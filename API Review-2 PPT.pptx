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4"/>
  </p:notesMasterIdLst>
  <p:sldIdLst>
    <p:sldId id="275" r:id="rId3"/>
    <p:sldId id="276" r:id="rId18"/>
    <p:sldId id="277" r:id="rId17"/>
    <p:sldId id="278" r:id="rId16"/>
    <p:sldId id="279" r:id="rId15"/>
    <p:sldId id="280" r:id="rId14"/>
    <p:sldId id="281" r:id="rId13"/>
    <p:sldId id="282" r:id="rId12"/>
    <p:sldId id="283" r:id="rId11"/>
    <p:sldId id="284" r:id="rId10"/>
    <p:sldId id="285" r:id="rId9"/>
    <p:sldId id="286" r:id="rId8"/>
    <p:sldId id="287" r:id="rId7"/>
    <p:sldId id="288" r:id="rId6"/>
    <p:sldId id="289" r:id="rId5"/>
  </p:sldIdLst>
  <p:sldSz cx="12192000" cy="6858000"/>
  <p:notesSz cx="6858000" cy="9144000"/>
  <p:embeddedFontLst>
    <p:embeddedFont>
      <p:font typeface="Bookman Old Style" panose="02050604050505020204"/>
      <p:regular r:id="rId22"/>
      <p:bold r:id="rId23"/>
      <p:italic r:id="rId24"/>
    </p:embeddedFont>
    <p:embeddedFont>
      <p:font typeface="Calibri" panose="020F0502020204030204"/>
      <p:regular r:id="rId25"/>
      <p:bold r:id="rId26"/>
      <p:italic r:id="rId27"/>
      <p:boldItalic r:id="rId28"/>
    </p:embeddedFont>
    <p:embeddedFont>
      <p:font typeface="Calibri Light" panose="020F0302020204030204" charset="0"/>
      <p:regular r:id="rId29"/>
      <p:italic r:id="rId30"/>
    </p:embeddedFont>
    <p:embeddedFont>
      <p:font typeface="Bookman Old Style" panose="02050604050505020204" pitchFamily="18" charset="0"/>
      <p:regular r:id="rId31"/>
      <p:bold r:id="rId32"/>
      <p:italic r:id="rId33"/>
    </p:embeddedFont>
  </p:embeddedFontLst>
  <p:defaultTextStyle>
    <a:defPPr>
      <a:buNone/>
    </a:defPPr>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 d="1"/>
          <a:sy n="1" d="1"/>
        </p:scale>
        <p:origin x="0" y="0"/>
      </p:cViewPr>
      <p:guideLst/>
    </p:cSldViewPr>
  </p:slide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notesMaster" Target="notesMasters/notesMaster1.xml"/><Relationship Id="rId5" Type="http://schemas.openxmlformats.org/officeDocument/2006/relationships/slide" Target="slides/slide15.xml"/><Relationship Id="rId6" Type="http://schemas.openxmlformats.org/officeDocument/2006/relationships/slide" Target="slides/slide14.xml"/><Relationship Id="rId7" Type="http://schemas.openxmlformats.org/officeDocument/2006/relationships/slide" Target="slides/slide13.xml"/><Relationship Id="rId8" Type="http://schemas.openxmlformats.org/officeDocument/2006/relationships/slide" Target="slides/slide12.xml"/><Relationship Id="rId9" Type="http://schemas.openxmlformats.org/officeDocument/2006/relationships/slide" Target="slides/slide11.xml"/><Relationship Id="rId10" Type="http://schemas.openxmlformats.org/officeDocument/2006/relationships/slide" Target="slides/slide10.xml"/><Relationship Id="rId11" Type="http://schemas.openxmlformats.org/officeDocument/2006/relationships/slide" Target="slides/slide9.xml"/><Relationship Id="rId12" Type="http://schemas.openxmlformats.org/officeDocument/2006/relationships/slide" Target="slides/slide8.xml"/><Relationship Id="rId13" Type="http://schemas.openxmlformats.org/officeDocument/2006/relationships/slide" Target="slides/slide7.xml"/><Relationship Id="rId14" Type="http://schemas.openxmlformats.org/officeDocument/2006/relationships/slide" Target="slides/slide6.xml"/><Relationship Id="rId15" Type="http://schemas.openxmlformats.org/officeDocument/2006/relationships/slide" Target="slides/slide5.xml"/><Relationship Id="rId16" Type="http://schemas.openxmlformats.org/officeDocument/2006/relationships/slide" Target="slides/slide4.xml"/><Relationship Id="rId17" Type="http://schemas.openxmlformats.org/officeDocument/2006/relationships/slide" Target="slides/slide3.xml"/><Relationship Id="rId18" Type="http://schemas.openxmlformats.org/officeDocument/2006/relationships/slide" Target="slides/slide2.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ableStyles" Target="tableStyles.xml"/><Relationship Id="rId22" Type="http://schemas.openxmlformats.org/officeDocument/2006/relationships/font" Target="fonts/font1.fntdata"/><Relationship Id="rId23" Type="http://schemas.openxmlformats.org/officeDocument/2006/relationships/font" Target="fonts/font2.fntdata"/><Relationship Id="rId24" Type="http://schemas.openxmlformats.org/officeDocument/2006/relationships/font" Target="fonts/font3.fntdata"/><Relationship Id="rId25" Type="http://schemas.openxmlformats.org/officeDocument/2006/relationships/font" Target="fonts/font4.fntdata"/><Relationship Id="rId26" Type="http://schemas.openxmlformats.org/officeDocument/2006/relationships/font" Target="fonts/font5.fntdata"/><Relationship Id="rId27" Type="http://schemas.openxmlformats.org/officeDocument/2006/relationships/font" Target="fonts/font6.fntdata"/><Relationship Id="rId28" Type="http://schemas.openxmlformats.org/officeDocument/2006/relationships/font" Target="fonts/font7.fntdata"/><Relationship Id="rId29" Type="http://schemas.openxmlformats.org/officeDocument/2006/relationships/font" Target="fonts/font8.fntdata"/><Relationship Id="rId30" Type="http://schemas.openxmlformats.org/officeDocument/2006/relationships/font" Target="fonts/font9.fntdata"/><Relationship Id="rId31" Type="http://schemas.openxmlformats.org/officeDocument/2006/relationships/font" Target="fonts/font10.fntdata"/><Relationship Id="rId32" Type="http://schemas.openxmlformats.org/officeDocument/2006/relationships/font" Target="fonts/font11.fntdata"/><Relationship Id="rId33" Type="http://schemas.openxmlformats.org/officeDocument/2006/relationships/font" Target="fonts/font1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Header Placeholder"/>
          <p:cNvSpPr/>
          <p:nvPr>
            <p:ph type="hdr" sz="quarter"/>
          </p:nvPr>
        </p:nvSpPr>
        <p:spPr>
          <a:prstGeom prst="rect">
            <a:avLst/>
          </a:prstGeom>
        </p:spPr>
        <p:txBody>
          <a:bodyPr/>
          <a:lstStyle/>
          <a:p/>
        </p:txBody>
      </p:sp>
      <p:sp>
        <p:nvSpPr>
          <p:cNvPr id="3" name="Date Placeholder"/>
          <p:cNvSpPr/>
          <p:nvPr>
            <p:ph type="dt" sz="quarter" idx="1"/>
          </p:nvPr>
        </p:nvSpPr>
        <p:spPr>
          <a:prstGeom prst="rect">
            <a:avLst/>
          </a:prstGeom>
        </p:spPr>
        <p:txBody>
          <a:bodyPr/>
          <a:lstStyle/>
          <a:p/>
        </p:txBody>
      </p:sp>
      <p:sp>
        <p:nvSpPr>
          <p:cNvPr id="4" name="Slide Image Placeholder"/>
          <p:cNvSpPr/>
          <p:nvPr>
            <p:ph type="sldImg" idx="2"/>
          </p:nvPr>
        </p:nvSpPr>
        <p:spPr>
          <a:prstGeom prst="rect">
            <a:avLst/>
          </a:prstGeom>
        </p:spPr>
        <p:txBody>
          <a:bodyPr/>
          <a:lstStyle/>
          <a:p/>
        </p:txBody>
      </p:sp>
      <p:sp>
        <p:nvSpPr>
          <p:cNvPr id="5" name="Notes Placeholder"/>
          <p:cNvSpPr/>
          <p:nvPr>
            <p:ph type="body" sz="quarter" idx="3"/>
          </p:nvPr>
        </p:nvSpPr>
        <p:spPr>
          <a:prstGeom prst="rect">
            <a:avLst/>
          </a:prstGeom>
        </p:spPr>
        <p:txBody>
          <a:bodyPr/>
          <a:lstStyle/>
          <a:p/>
        </p:txBody>
      </p:sp>
      <p:sp>
        <p:nvSpPr>
          <p:cNvPr id="6" name="Footer Placeholder"/>
          <p:cNvSpPr/>
          <p:nvPr>
            <p:ph type="ftr" sz="quarter" idx="4"/>
          </p:nvPr>
        </p:nvSpPr>
        <p:spPr>
          <a:prstGeom prst="rect">
            <a:avLst/>
          </a:prstGeom>
        </p:spPr>
        <p:txBody>
          <a:bodyPr/>
          <a:lstStyle/>
          <a:p/>
        </p:txBody>
      </p:sp>
      <p:sp>
        <p:nvSpPr>
          <p:cNvPr id="7" name="Slide Number Placeholder"/>
          <p:cNvSpPr/>
          <p:nvPr>
            <p:ph type="sldNum" sz="quarter" idx="5"/>
          </p:nvPr>
        </p:nvSpPr>
        <p:spPr>
          <a:prstGeom prst="rect">
            <a:avLst/>
          </a:prstGeom>
        </p:spPr>
        <p:txBody>
          <a:bodyPr/>
          <a:lstStyle/>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Good morning, madam. Today I will present our full-stack e-commerce platform for a clothing and accessories store. It is built with Java Spring Boot on the backend and React on the frontend, and it is deployed online on Vercel and Render. I will first explain the problem, then show each feature one by one with screenshots, and finally be honest about what is not finished yet. Please feel free to stop me at any point if something is not clear.</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p:sp>
        <p:nvSpPr>
          <p:cNvPr id="2" name="Title 1"/>
          <p:cNvSpPr>
            <a:spLocks noGrp="1"/>
          </p:cNvSpPr>
          <p:nvPr>
            <p:ph type="title"/>
          </p:nvPr>
        </p:nvSpPr>
        <p:spPr>
          <a:xfrm>
            <a:off x="1524000" y="1854199"/>
            <a:ext cx="9144000" cy="1655763"/>
          </a:xfrm>
        </p:spPr>
        <p:txBody>
          <a:bodyPr anchor="b"/>
          <a:lstStyle>
            <a:lvl1pPr algn="ctr">
              <a:buNone/>
              <a:defRPr sz="6000"/>
            </a:lvl1pPr>
          </a:lstStyle>
          <a:p>
            <a:r>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Click to edit Master subtitle style</a:t>
            </a:r>
          </a:p>
        </p:txBody>
      </p:sp>
      <p:pic>
        <p:nvPicPr>
          <p:cNvPr id="11" name="Picture 3"/>
          <p:cNvPicPr>
            <a:picLocks noChangeAspect="1"/>
          </p:cNvPicPr>
          <p:nvPr/>
        </p:nvPicPr>
        <p:blipFill>
          <a:blip r:embed="rId2"/>
          <a:stretch>
            <a:fillRect/>
          </a:stretch>
        </p:blipFill>
        <p:spPr>
          <a:xfrm>
            <a:off x="2567608" y="592088"/>
            <a:ext cx="7609140" cy="1008112"/>
          </a:xfrm>
          <a:prstGeom prst="rect">
            <a:avLst/>
          </a:prstGeom>
        </p:spPr>
      </p:pic>
      <p:sp>
        <p:nvSpPr>
          <p:cNvPr id="5" name="Footer Placeholder 4"/>
          <p:cNvSpPr>
            <a:spLocks noGrp="1"/>
          </p:cNvSpPr>
          <p:nvPr>
            <p:ph type="ftr" idx="11"/>
          </p:nvPr>
        </p:nvSpPr>
        <p:spPr/>
        <p:txBody>
          <a:bodyPr/>
          <a:lstStyle>
            <a:lvl1pPr>
              <a:buNone/>
              <a:defRPr/>
            </a:lvl1pPr>
          </a:lstStyle>
          <a:p>
            <a:r>
              <a:t>Footer</a:t>
            </a:r>
          </a:p>
        </p:txBody>
      </p:sp>
      <p:sp>
        <p:nvSpPr>
          <p:cNvPr id="6" name="Slide Number Placeholder 5"/>
          <p:cNvSpPr>
            <a:spLocks noGrp="1"/>
          </p:cNvSpPr>
          <p:nvPr>
            <p:ph type="sldNum" idx="12"/>
          </p:nvPr>
        </p:nvSpPr>
        <p:spPr/>
        <p:txBody>
          <a:bodyPr/>
          <a:lstStyle>
            <a:lvl1pPr>
              <a:buNone/>
              <a:defRPr/>
            </a:lvl1pPr>
          </a:lstStyle>
          <a:p>
            <a:r>
              <a:t>&lt;#&gt;</a:t>
            </a:r>
          </a:p>
        </p:txBody>
      </p:sp>
      <p:sp>
        <p:nvSpPr>
          <p:cNvPr id="7" name="Date Placeholder 3"/>
          <p:cNvSpPr>
            <a:spLocks noGrp="1"/>
          </p:cNvSpPr>
          <p:nvPr>
            <p:ph type="dt" idx="10"/>
          </p:nvPr>
        </p:nvSpPr>
        <p:spPr/>
        <p:txBody>
          <a:bodyPr/>
          <a:lstStyle>
            <a:lvl1pPr>
              <a:buNone/>
              <a:defRPr/>
            </a:lvl1pPr>
          </a:lstStyle>
          <a:p>
            <a:r>
              <a:t>Date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p:sp>
        <p:nvSpPr>
          <p:cNvPr id="2" name="Content Placeholder 2"/>
          <p:cNvSpPr>
            <a:spLocks noGrp="1"/>
          </p:cNvSpPr>
          <p:nvPr>
            <p:ph/>
          </p:nvPr>
        </p:nvSpPr>
        <p:spPr>
          <a:xfrm>
            <a:off x="869085" y="1561876"/>
            <a:ext cx="10515600" cy="4531419"/>
          </a:xfrm>
        </p:spPr>
        <p:txBody>
          <a:bodyPr/>
          <a:lstStyle>
            <a:lvl1pPr marL="457200" indent="0">
              <a:buNone/>
              <a:defRPr/>
            </a:lvl1pPr>
            <a:lvl2pPr marL="914400" indent="0">
              <a:buNone/>
              <a:defRPr/>
            </a:lvl2pPr>
            <a:lvl3pPr marL="1371600" indent="0">
              <a:buNone/>
              <a:defRPr/>
            </a:lvl3pPr>
            <a:lvl4pPr marL="1828800" indent="0">
              <a:buNone/>
              <a:defRPr/>
            </a:lvl4pPr>
          </a:lstStyle>
          <a:p>
            <a:pPr lvl="0">
              <a:buNone/>
            </a:pPr>
            <a:r>
              <a:t>Click to edit Master text styles</a:t>
            </a:r>
          </a:p>
        </p:txBody>
      </p:sp>
      <p:sp>
        <p:nvSpPr>
          <p:cNvPr id="3" name="Date Placeholder 2"/>
          <p:cNvSpPr>
            <a:spLocks noGrp="1"/>
          </p:cNvSpPr>
          <p:nvPr>
            <p:ph type="dt" idx="1"/>
          </p:nvPr>
        </p:nvSpPr>
        <p:spPr>
          <a:xfrm>
            <a:off x="695400" y="6278769"/>
            <a:ext cx="1656183" cy="365125"/>
          </a:xfrm>
          <a:prstGeom prst="rect">
            <a:avLst/>
          </a:prstGeom>
          <a:ln>
            <a:noFill/>
          </a:ln>
        </p:spPr>
        <p:txBody>
          <a:bodyPr/>
          <a:lstStyle>
            <a:lvl1pPr>
              <a:buNone/>
              <a:defRPr b="1">
                <a:solidFill>
                  <a:schemeClr val="bg1">
                    <a:lumMod val="50000"/>
                  </a:schemeClr>
                </a:solidFill>
                <a:latin typeface="+mn-lt"/>
                <a:ea typeface="+mn-lt"/>
                <a:cs typeface="+mn-lt"/>
              </a:defRPr>
            </a:lvl1pPr>
          </a:lstStyle>
          <a:p>
            <a:fld id="{ADCE28B6-DBFE-4620-B95B-46D05A4EFA88}" type="datetime1">
              <a:rPr/>
            </a:fld>
            <a:endParaRPr/>
          </a:p>
        </p:txBody>
      </p:sp>
      <p:sp>
        <p:nvSpPr>
          <p:cNvPr id="4" name="Footer Placeholder 3"/>
          <p:cNvSpPr>
            <a:spLocks noGrp="1"/>
          </p:cNvSpPr>
          <p:nvPr>
            <p:ph type="ftr" idx="2"/>
          </p:nvPr>
        </p:nvSpPr>
        <p:spPr>
          <a:xfrm>
            <a:off x="2567608" y="6278771"/>
            <a:ext cx="6912768" cy="365125"/>
          </a:xfrm>
          <a:prstGeom prst="rect">
            <a:avLst/>
          </a:prstGeom>
          <a:ln>
            <a:noFill/>
          </a:ln>
        </p:spPr>
        <p:txBody>
          <a:bodyPr/>
          <a:lstStyle>
            <a:lvl1pPr>
              <a:buNone/>
              <a:defRPr b="1">
                <a:solidFill>
                  <a:schemeClr val="bg1">
                    <a:lumMod val="50000"/>
                  </a:schemeClr>
                </a:solidFill>
                <a:latin typeface="+mn-lt"/>
                <a:ea typeface="+mn-lt"/>
                <a:cs typeface="+mn-lt"/>
              </a:defRPr>
            </a:lvl1pPr>
          </a:lstStyle>
          <a:p>
            <a:r>
              <a:t>DL&amp;CO                                                                G.LAVARAJU, Associate Professor, CSE</a:t>
            </a:r>
          </a:p>
        </p:txBody>
      </p:sp>
      <p:pic>
        <p:nvPicPr>
          <p:cNvPr id="11" name="Picture 2"/>
          <p:cNvPicPr>
            <a:picLocks noChangeAspect="1"/>
          </p:cNvPicPr>
          <p:nvPr/>
        </p:nvPicPr>
        <p:blipFill>
          <a:blip r:embed="rId2"/>
          <a:stretch>
            <a:fillRect/>
          </a:stretch>
        </p:blipFill>
        <p:spPr>
          <a:xfrm>
            <a:off x="-240709" y="-243408"/>
            <a:ext cx="3249644" cy="1800000"/>
          </a:xfrm>
          <a:prstGeom prst="rect">
            <a:avLst/>
          </a:prstGeom>
        </p:spPr>
      </p:pic>
      <p:sp>
        <p:nvSpPr>
          <p:cNvPr id="6" name="Slide Number Placeholder 3"/>
          <p:cNvSpPr>
            <a:spLocks noGrp="1"/>
          </p:cNvSpPr>
          <p:nvPr>
            <p:ph type="sldNum" idx="3"/>
          </p:nvPr>
        </p:nvSpPr>
        <p:spPr>
          <a:xfrm>
            <a:off x="10272464" y="6356350"/>
            <a:ext cx="1081336" cy="365125"/>
          </a:xfrm>
        </p:spPr>
        <p:txBody>
          <a:bodyPr/>
          <a:lstStyle/>
          <a:p>
            <a:fld id="{9359D16F-76A5-41BA-ADDD-CBF352B33DDD}" type="slidenum">
              <a:rPr/>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p:pic>
        <p:nvPicPr>
          <p:cNvPr id="7" name="Picture 2"/>
          <p:cNvPicPr>
            <a:picLocks noChangeAspect="1"/>
          </p:cNvPicPr>
          <p:nvPr/>
        </p:nvPicPr>
        <p:blipFill>
          <a:blip r:embed="rId2"/>
          <a:stretch>
            <a:fillRect/>
          </a:stretch>
        </p:blipFill>
        <p:spPr>
          <a:xfrm>
            <a:off x="-240709" y="-243408"/>
            <a:ext cx="3249644" cy="1800000"/>
          </a:xfrm>
          <a:prstGeom prst="rect">
            <a:avLst/>
          </a:prstGeom>
        </p:spPr>
      </p:pic>
      <p:sp>
        <p:nvSpPr>
          <p:cNvPr id="3" name="Date Placeholder 2"/>
          <p:cNvSpPr>
            <a:spLocks noGrp="1"/>
          </p:cNvSpPr>
          <p:nvPr>
            <p:ph type="dt" idx="10"/>
          </p:nvPr>
        </p:nvSpPr>
        <p:spPr>
          <a:xfrm>
            <a:off x="695400" y="6278769"/>
            <a:ext cx="1656183" cy="365125"/>
          </a:xfrm>
          <a:prstGeom prst="rect">
            <a:avLst/>
          </a:prstGeom>
          <a:ln>
            <a:noFill/>
          </a:ln>
        </p:spPr>
        <p:txBody>
          <a:bodyPr/>
          <a:lstStyle>
            <a:lvl1pPr>
              <a:buNone/>
              <a:defRPr b="1">
                <a:solidFill>
                  <a:schemeClr val="bg1">
                    <a:lumMod val="50000"/>
                  </a:schemeClr>
                </a:solidFill>
                <a:latin typeface="+mn-lt"/>
                <a:ea typeface="+mn-lt"/>
                <a:cs typeface="+mn-lt"/>
              </a:defRPr>
            </a:lvl1pPr>
          </a:lstStyle>
          <a:p>
            <a:fld id="{B13D2877-58CC-4844-975B-B8D6496C43E9}" type="datetime1">
              <a:rPr/>
            </a:fld>
            <a:endParaRPr/>
          </a:p>
        </p:txBody>
      </p:sp>
      <p:sp>
        <p:nvSpPr>
          <p:cNvPr id="4" name="Footer Placeholder 3"/>
          <p:cNvSpPr>
            <a:spLocks noGrp="1"/>
          </p:cNvSpPr>
          <p:nvPr>
            <p:ph type="ftr" idx="11"/>
          </p:nvPr>
        </p:nvSpPr>
        <p:spPr>
          <a:xfrm>
            <a:off x="2567608" y="6278771"/>
            <a:ext cx="6912768" cy="365125"/>
          </a:xfrm>
          <a:prstGeom prst="rect">
            <a:avLst/>
          </a:prstGeom>
          <a:ln>
            <a:noFill/>
          </a:ln>
        </p:spPr>
        <p:txBody>
          <a:bodyPr/>
          <a:lstStyle>
            <a:lvl1pPr>
              <a:buNone/>
              <a:defRPr b="1">
                <a:solidFill>
                  <a:schemeClr val="bg1">
                    <a:lumMod val="50000"/>
                  </a:schemeClr>
                </a:solidFill>
                <a:latin typeface="+mn-lt"/>
                <a:ea typeface="+mn-lt"/>
                <a:cs typeface="+mn-lt"/>
              </a:defRPr>
            </a:lvl1pPr>
          </a:lstStyle>
          <a:p>
            <a:r>
              <a:t>DL&amp;CO                                                                G.LAVARAJU, Associate Professor, CSE</a:t>
            </a:r>
          </a:p>
        </p:txBody>
      </p:sp>
      <p:sp>
        <p:nvSpPr>
          <p:cNvPr id="5" name="Slide Number Placeholder 3"/>
          <p:cNvSpPr>
            <a:spLocks noGrp="1"/>
          </p:cNvSpPr>
          <p:nvPr>
            <p:ph type="sldNum" idx="12"/>
          </p:nvPr>
        </p:nvSpPr>
        <p:spPr>
          <a:xfrm>
            <a:off x="10272464" y="6356350"/>
            <a:ext cx="1081336" cy="365125"/>
          </a:xfrm>
        </p:spPr>
        <p:txBody>
          <a:bodyPr/>
          <a:lstStyle/>
          <a:p>
            <a:fld id="{D9C5B093-D3DD-4808-813A-F58BF8E67773}" type="slidenum">
              <a:rPr/>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anchor="ctr">
            <a:normAutofit/>
          </a:bodyPr>
          <a:lstStyle/>
          <a:p>
            <a:r>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p:cNvSpPr>
            <a:spLocks noGrp="1"/>
          </p:cNvSpPr>
          <p:nvPr>
            <p:ph type="dt" idx="2"/>
          </p:nvPr>
        </p:nvSpPr>
        <p:spPr>
          <a:xfrm>
            <a:off x="838200" y="6356350"/>
            <a:ext cx="2743200" cy="365125"/>
          </a:xfrm>
          <a:prstGeom prst="rect">
            <a:avLst/>
          </a:prstGeom>
        </p:spPr>
        <p:txBody>
          <a:bodyPr vert="horz" lIns="91440" tIns="45720" rIns="91440" bIns="45720" anchor="ctr"/>
          <a:lstStyle>
            <a:lvl1pPr algn="l">
              <a:buNone/>
              <a:defRPr sz="1200">
                <a:solidFill>
                  <a:schemeClr val="tx1">
                    <a:tint val="75000"/>
                  </a:schemeClr>
                </a:solidFill>
              </a:defRPr>
            </a:lvl1pPr>
          </a:lstStyle>
          <a:p>
            <a:fld id="{A0623D07-B41D-4865-9117-A59235B241FC}" type="datetime1">
              <a:rPr/>
            </a:fld>
            <a:endParaRPr/>
          </a:p>
        </p:txBody>
      </p:sp>
      <p:sp>
        <p:nvSpPr>
          <p:cNvPr id="5" name="Footer Placeholder 4"/>
          <p:cNvSpPr>
            <a:spLocks noGrp="1"/>
          </p:cNvSpPr>
          <p:nvPr>
            <p:ph type="ftr" idx="3"/>
          </p:nvPr>
        </p:nvSpPr>
        <p:spPr>
          <a:xfrm>
            <a:off x="4038600" y="6356350"/>
            <a:ext cx="4114800" cy="365125"/>
          </a:xfrm>
          <a:prstGeom prst="rect">
            <a:avLst/>
          </a:prstGeom>
        </p:spPr>
        <p:txBody>
          <a:bodyPr vert="horz" lIns="91440" tIns="45720" rIns="91440" bIns="45720" anchor="ctr"/>
          <a:lstStyle>
            <a:lvl1pPr algn="ctr">
              <a:buNone/>
              <a:defRPr sz="1200">
                <a:solidFill>
                  <a:schemeClr val="tx1">
                    <a:tint val="75000"/>
                  </a:schemeClr>
                </a:solidFill>
              </a:defRPr>
            </a:lvl1pPr>
          </a:lstStyle>
          <a:p>
            <a:r>
              <a:t>DL&amp;CO                                                                G.LAVARAJU, Associate Professor, CSE</a:t>
            </a:r>
          </a:p>
        </p:txBody>
      </p:sp>
      <p:sp>
        <p:nvSpPr>
          <p:cNvPr id="6" name="Slide Number Placeholder 5"/>
          <p:cNvSpPr>
            <a:spLocks noGrp="1"/>
          </p:cNvSpPr>
          <p:nvPr>
            <p:ph type="sldNum" idx="4"/>
          </p:nvPr>
        </p:nvSpPr>
        <p:spPr>
          <a:xfrm>
            <a:off x="8610600" y="6356350"/>
            <a:ext cx="2743200" cy="365125"/>
          </a:xfrm>
          <a:prstGeom prst="rect">
            <a:avLst/>
          </a:prstGeom>
        </p:spPr>
        <p:txBody>
          <a:bodyPr vert="horz" lIns="91440" tIns="45720" rIns="91440" bIns="45720" anchor="ctr"/>
          <a:lstStyle>
            <a:lvl1pPr algn="r">
              <a:buNone/>
              <a:defRPr sz="1200">
                <a:solidFill>
                  <a:schemeClr val="tx1">
                    <a:tint val="75000"/>
                  </a:schemeClr>
                </a:solidFill>
              </a:defRPr>
            </a:lvl1pPr>
          </a:lstStyle>
          <a:p>
            <a:fld id="{C0FA9481-3A84-418C-9FCC-1F8C2D158F80}" type="slidenum">
              <a:rPr/>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l">
        <a:lnSpc>
          <a:spcPct val="90000"/>
        </a:lnSpc>
        <a:spcBef>
          <a:spcPct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822960" y="3291840"/>
            <a:ext cx="10515600" cy="457200"/>
          </a:xfrm>
          <a:prstGeom prst="rect">
            <a:avLst/>
          </a:prstGeom>
          <a:noFill/>
        </p:spPr>
        <p:txBody>
          <a:bodyPr wrap="square" anchor="ctr">
            <a:spAutoFit/>
          </a:bodyPr>
          <a:lstStyle/>
          <a:p>
            <a:pPr algn="ctr">
              <a:spcAft>
                <a:spcPts val="0"/>
              </a:spcAft>
            </a:pPr>
            <a:r>
              <a:rPr sz="1800" b="0" i="0">
                <a:solidFill>
                  <a:srgbClr val="0070C0"/>
                </a:solidFill>
                <a:latin typeface="Bookman Old Style" panose="02050604050505020204"/>
              </a:rPr>
              <a:t>Department of Artificial Intelligence and Machine Learning</a:t>
            </a:r>
            <a:endParaRPr sz="1800" b="0" i="0">
              <a:solidFill>
                <a:srgbClr val="0070C0"/>
              </a:solidFill>
              <a:latin typeface="Bookman Old Style" panose="02050604050505020204"/>
            </a:endParaRPr>
          </a:p>
        </p:txBody>
      </p:sp>
      <p:sp>
        <p:nvSpPr>
          <p:cNvPr id="4" name="TextBox 3"/>
          <p:cNvSpPr txBox="1"/>
          <p:nvPr/>
        </p:nvSpPr>
        <p:spPr>
          <a:xfrm>
            <a:off x="822960" y="4920298"/>
            <a:ext cx="10515600" cy="337185"/>
          </a:xfrm>
          <a:prstGeom prst="rect">
            <a:avLst/>
          </a:prstGeom>
          <a:noFill/>
        </p:spPr>
        <p:txBody>
          <a:bodyPr wrap="square" anchor="ctr">
            <a:spAutoFit/>
          </a:bodyPr>
          <a:lstStyle/>
          <a:p>
            <a:pPr algn="ctr">
              <a:spcAft>
                <a:spcPts val="0"/>
              </a:spcAft>
            </a:pPr>
            <a:r>
              <a:rPr sz="1600" b="0" i="0">
                <a:solidFill>
                  <a:srgbClr val="C00000"/>
                </a:solidFill>
                <a:latin typeface="Bookman Old Style" panose="02050604050505020204"/>
              </a:rPr>
              <a:t>Java 17 · Spring Boot 3.5 · JPA/Hibernate · MySQL · JWT · WebSocket · SOAP</a:t>
            </a:r>
            <a:endParaRPr sz="1600" b="0" i="0">
              <a:solidFill>
                <a:srgbClr val="C00000"/>
              </a:solidFill>
              <a:latin typeface="Bookman Old Style" panose="02050604050505020204"/>
            </a:endParaRPr>
          </a:p>
        </p:txBody>
      </p:sp>
      <p:sp>
        <p:nvSpPr>
          <p:cNvPr id="7" name="Title 1"/>
          <p:cNvSpPr txBox="1"/>
          <p:nvPr/>
        </p:nvSpPr>
        <p:spPr>
          <a:xfrm>
            <a:off x="641948" y="1828800"/>
            <a:ext cx="10696612" cy="1143000"/>
          </a:xfrm>
          <a:prstGeom prst="rect">
            <a:avLst/>
          </a:prstGeom>
        </p:spPr>
        <p:txBody>
          <a:bodyPr vert="horz" lIns="91440" tIns="45720" rIns="91440" bIns="45720" rtlCol="0" anchor="b">
            <a:noAutofit/>
          </a:bodyPr>
          <a:lstStyle/>
          <a:p>
            <a:pPr algn="ctr">
              <a:lnSpc>
                <a:spcPct val="90000"/>
              </a:lnSpc>
              <a:spcBef>
                <a:spcPct val="0"/>
              </a:spcBef>
            </a:pPr>
            <a:r>
              <a:rPr lang="en-IN" altLang="en-GB" sz="3200" dirty="0">
                <a:solidFill>
                  <a:srgbClr val="0070C0"/>
                </a:solidFill>
                <a:latin typeface="Bookman Old Style" panose="02050604050505020204" pitchFamily="18" charset="0"/>
                <a:ea typeface="ADLaM Display" panose="02010000000000000000" pitchFamily="2" charset="0"/>
                <a:cs typeface="ADLaM Display" panose="02010000000000000000" pitchFamily="2" charset="0"/>
              </a:rPr>
              <a:t>API &amp; MS – Project Review</a:t>
            </a:r>
            <a:endParaRPr lang="en-US" dirty="0"/>
          </a:p>
          <a:p>
            <a:pPr algn="ctr">
              <a:lnSpc>
                <a:spcPct val="90000"/>
              </a:lnSpc>
              <a:spcBef>
                <a:spcPct val="0"/>
              </a:spcBef>
            </a:pPr>
            <a:r>
              <a:rPr lang="en-GB" sz="2400" dirty="0">
                <a:solidFill>
                  <a:srgbClr val="0070C0"/>
                </a:solidFill>
                <a:latin typeface="Bookman Old Style" panose="02050604050505020204" pitchFamily="18" charset="0"/>
                <a:ea typeface="ADLaM Display" panose="02010000000000000000" pitchFamily="2" charset="0"/>
                <a:cs typeface="ADLaM Display" panose="02010000000000000000" pitchFamily="2" charset="0"/>
              </a:rPr>
              <a:t>Course Code: 241AI024</a:t>
            </a:r>
            <a:endParaRPr lang="en-IN" altLang="en-GB" sz="2400" dirty="0">
              <a:solidFill>
                <a:srgbClr val="0070C0"/>
              </a:solidFill>
              <a:latin typeface="Bookman Old Style" panose="02050604050505020204" pitchFamily="18" charset="0"/>
              <a:ea typeface="ADLaM Display" panose="02010000000000000000" pitchFamily="2" charset="0"/>
              <a:cs typeface="ADLaM Display" panose="02010000000000000000" pitchFamily="2" charset="0"/>
            </a:endParaRPr>
          </a:p>
        </p:txBody>
      </p:sp>
      <p:sp>
        <p:nvSpPr>
          <p:cNvPr id="8" name="Title 1"/>
          <p:cNvSpPr txBox="1"/>
          <p:nvPr/>
        </p:nvSpPr>
        <p:spPr>
          <a:xfrm>
            <a:off x="990600" y="3816985"/>
            <a:ext cx="10696612" cy="936104"/>
          </a:xfrm>
          <a:prstGeom prst="rect">
            <a:avLst/>
          </a:prstGeom>
        </p:spPr>
        <p:txBody>
          <a:bodyPr vert="horz" lIns="91440" tIns="45720" rIns="91440" bIns="45720" rtlCol="0" anchor="b">
            <a:noAutofit/>
          </a:bodyPr>
          <a:lstStyle/>
          <a:p>
            <a:pPr lvl="0" algn="ctr">
              <a:lnSpc>
                <a:spcPct val="90000"/>
              </a:lnSpc>
              <a:spcBef>
                <a:spcPct val="0"/>
              </a:spcBef>
            </a:pPr>
            <a:r>
              <a:rPr lang="en-IN" altLang="en-US" sz="2400">
                <a:solidFill>
                  <a:srgbClr val="C00000"/>
                </a:solidFill>
                <a:latin typeface="Bookman Old Style" panose="02050604050505020204" pitchFamily="18" charset="0"/>
              </a:rPr>
              <a:t>SquadUp — Player Matching &amp; Social Platform</a:t>
            </a:r>
            <a:endParaRPr lang="en-IN" altLang="en-US" sz="2400">
              <a:solidFill>
                <a:srgbClr val="C00000"/>
              </a:solidFill>
              <a:latin typeface="Bookman Old Style" panose="02050604050505020204" pitchFamily="18" charset="0"/>
            </a:endParaRPr>
          </a:p>
          <a:p>
            <a:pPr lvl="0" algn="ctr">
              <a:lnSpc>
                <a:spcPct val="90000"/>
              </a:lnSpc>
              <a:spcBef>
                <a:spcPct val="0"/>
              </a:spcBef>
            </a:pPr>
            <a:r>
              <a:rPr lang="en-IN" altLang="en-US" sz="1600">
                <a:solidFill>
                  <a:srgbClr val="0070C0"/>
                </a:solidFill>
                <a:latin typeface="Bookman Old Style" panose="02050604050505020204" pitchFamily="18" charset="0"/>
              </a:rPr>
              <a:t>Enterprise Spring Boot Platform for Multiplayer Gaming Lobbies</a:t>
            </a:r>
            <a:endParaRPr lang="en-IN" altLang="en-US" sz="2400">
              <a:solidFill>
                <a:srgbClr val="C00000"/>
              </a:solidFill>
              <a:latin typeface="Bookman Old Style" panose="02050604050505020204" pitchFamily="18" charset="0"/>
            </a:endParaRPr>
          </a:p>
        </p:txBody>
      </p:sp>
      <p:sp>
        <p:nvSpPr>
          <p:cNvPr id="11" name="Title 1"/>
          <p:cNvSpPr txBox="1"/>
          <p:nvPr/>
        </p:nvSpPr>
        <p:spPr>
          <a:xfrm>
            <a:off x="6900000" y="5300000"/>
            <a:ext cx="5200000" cy="1200000"/>
          </a:xfrm>
          <a:prstGeom prst="rect">
            <a:avLst/>
          </a:prstGeom>
        </p:spPr>
        <p:txBody>
          <a:bodyPr vert="horz" lIns="91440" tIns="45720" rIns="91440" bIns="45720" rtlCol="0" anchor="b">
            <a:noAutofit/>
          </a:bodyPr>
          <a:lstStyle/>
          <a:p>
            <a:pPr lvl="0" indent="0" algn="ctr">
              <a:lnSpc>
                <a:spcPct val="90000"/>
              </a:lnSpc>
              <a:spcBef>
                <a:spcPct val="0"/>
              </a:spcBef>
              <a:buFont typeface="Arial" panose="020B0604020202020204" pitchFamily="34" charset="0"/>
              <a:buNone/>
            </a:pPr>
            <a:r>
              <a:rPr lang="en-IN" altLang="en-GB" sz="1600">
                <a:solidFill>
                  <a:srgbClr val="C00000"/>
                </a:solidFill>
                <a:latin typeface="Bookman Old Style" panose="02050604050505020204" pitchFamily="18" charset="0"/>
                <a:ea typeface="ADLaM Display" panose="02010000000000000000" pitchFamily="2" charset="0"/>
                <a:cs typeface="ADLaM Display" panose="02010000000000000000" pitchFamily="2" charset="0"/>
              </a:rPr>
              <a:t>[Name 1]   -   [Roll No.]</a:t>
            </a:r>
            <a:endParaRPr lang="en-GB" sz="1600">
              <a:solidFill>
                <a:srgbClr val="C00000"/>
              </a:solidFill>
              <a:latin typeface="Bookman Old Style" panose="02050604050505020204" pitchFamily="18" charset="0"/>
              <a:ea typeface="ADLaM Display" panose="02010000000000000000" pitchFamily="2" charset="0"/>
              <a:cs typeface="ADLaM Display" panose="02010000000000000000" pitchFamily="2" charset="0"/>
            </a:endParaRPr>
          </a:p>
          <a:p>
            <a:pPr lvl="0" indent="0" algn="ctr">
              <a:lnSpc>
                <a:spcPct val="90000"/>
              </a:lnSpc>
              <a:spcBef>
                <a:spcPct val="0"/>
              </a:spcBef>
              <a:buFont typeface="Arial" panose="020B0604020202020204" pitchFamily="34" charset="0"/>
              <a:buNone/>
            </a:pPr>
            <a:r>
              <a:rPr lang="en-IN" altLang="en-GB" sz="1600">
                <a:solidFill>
                  <a:srgbClr val="C00000"/>
                </a:solidFill>
                <a:latin typeface="Bookman Old Style" panose="02050604050505020204" pitchFamily="18" charset="0"/>
                <a:ea typeface="ADLaM Display" panose="02010000000000000000" pitchFamily="2" charset="0"/>
                <a:cs typeface="ADLaM Display" panose="02010000000000000000" pitchFamily="2" charset="0"/>
              </a:rPr>
              <a:t>[Name 2]   -   [Roll No.]</a:t>
            </a:r>
            <a:endParaRPr lang="en-GB" sz="1600">
              <a:solidFill>
                <a:srgbClr val="C00000"/>
              </a:solidFill>
              <a:latin typeface="Bookman Old Style" panose="02050604050505020204" pitchFamily="18" charset="0"/>
              <a:ea typeface="ADLaM Display" panose="02010000000000000000" pitchFamily="2" charset="0"/>
              <a:cs typeface="ADLaM Display" panose="02010000000000000000" pitchFamily="2" charset="0"/>
            </a:endParaRPr>
          </a:p>
          <a:p>
            <a:pPr lvl="0" indent="0" algn="ctr">
              <a:lnSpc>
                <a:spcPct val="90000"/>
              </a:lnSpc>
              <a:spcBef>
                <a:spcPct val="0"/>
              </a:spcBef>
              <a:buFont typeface="Arial" panose="020B0604020202020204" pitchFamily="34" charset="0"/>
              <a:buNone/>
            </a:pPr>
            <a:r>
              <a:rPr lang="en-IN" altLang="en-GB" sz="1600">
                <a:solidFill>
                  <a:srgbClr val="C00000"/>
                </a:solidFill>
                <a:latin typeface="Bookman Old Style" panose="02050604050505020204" pitchFamily="18" charset="0"/>
                <a:ea typeface="ADLaM Display" panose="02010000000000000000" pitchFamily="2" charset="0"/>
                <a:cs typeface="ADLaM Display" panose="02010000000000000000" pitchFamily="2" charset="0"/>
              </a:rPr>
              <a:t>[Name 3]   -   [Roll No.]</a:t>
            </a:r>
            <a:endParaRPr lang="en-GB" sz="1600">
              <a:solidFill>
                <a:srgbClr val="C00000"/>
              </a:solidFill>
              <a:latin typeface="Bookman Old Style" panose="02050604050505020204" pitchFamily="18" charset="0"/>
              <a:ea typeface="ADLaM Display" panose="02010000000000000000" pitchFamily="2" charset="0"/>
              <a:cs typeface="ADLaM Display" panose="02010000000000000000" pitchFamily="2" charset="0"/>
            </a:endParaRPr>
          </a:p>
          <a:p>
            <a:pPr lvl="0" indent="0" algn="ctr">
              <a:lnSpc>
                <a:spcPct val="90000"/>
              </a:lnSpc>
              <a:spcBef>
                <a:spcPct val="0"/>
              </a:spcBef>
              <a:buFont typeface="Arial" panose="020B0604020202020204" pitchFamily="34" charset="0"/>
              <a:buNone/>
            </a:pPr>
            <a:r>
              <a:rPr lang="en-IN" altLang="en-GB" sz="1600">
                <a:solidFill>
                  <a:srgbClr val="C00000"/>
                </a:solidFill>
                <a:latin typeface="Bookman Old Style" panose="02050604050505020204" pitchFamily="18" charset="0"/>
                <a:ea typeface="ADLaM Display" panose="02010000000000000000" pitchFamily="2" charset="0"/>
                <a:cs typeface="ADLaM Display" panose="02010000000000000000" pitchFamily="2" charset="0"/>
              </a:rPr>
              <a:t>[Name 4]   -   [Roll No.]</a:t>
            </a:r>
            <a:endParaRPr lang="en-GB" sz="1600">
              <a:solidFill>
                <a:srgbClr val="C00000"/>
              </a:solidFill>
              <a:latin typeface="Bookman Old Style" panose="02050604050505020204" pitchFamily="18" charset="0"/>
              <a:ea typeface="ADLaM Display" panose="02010000000000000000" pitchFamily="2" charset="0"/>
              <a:cs typeface="ADLaM Display" panose="02010000000000000000" pitchFamily="2" charset="0"/>
            </a:endParaRP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00000" y="280000"/>
            <a:ext cx="9200000" cy="518160"/>
          </a:xfrm>
          <a:prstGeom prst="rect">
            <a:avLst/>
          </a:prstGeom>
          <a:noFill/>
        </p:spPr>
        <p:txBody>
          <a:bodyPr wrap="square" anchor="ctr">
            <a:spAutoFit/>
          </a:bodyPr>
          <a:lstStyle/>
          <a:p>
            <a:pPr algn="ctr"/>
            <a:r>
              <a:rPr sz="2800" b="1" i="0">
                <a:solidFill>
                  <a:srgbClr val="0070C0"/>
                </a:solidFill>
                <a:latin typeface="Bookman Old Style" panose="02050604050505020204"/>
                <a:ea typeface="Bookman Old Style" panose="02050604050505020204"/>
                <a:cs typeface="Bookman Old Style" panose="02050604050505020204"/>
              </a:rPr>
              <a:t>Project Scope &amp; Objectives</a:t>
            </a:r>
          </a:p>
        </p:txBody>
      </p:sp>
      <p:sp>
        <p:nvSpPr>
          <p:cNvPr id="3" name="Rounded Rectangle 2"/>
          <p:cNvSpPr/>
          <p:nvPr/>
        </p:nvSpPr>
        <p:spPr>
          <a:xfrm>
            <a:off x="900000" y="1350000"/>
            <a:ext cx="5100000" cy="4150000"/>
          </a:xfrm>
          <a:prstGeom prst="roundRect">
            <a:avLst>
              <a:gd name="adj" fmla="val 6000"/>
            </a:avLst>
          </a:prstGeom>
          <a:solidFill>
            <a:srgbClr val="EAF3FB"/>
          </a:solidFill>
          <a:ln>
            <a:noFill/>
          </a:ln>
        </p:spPr>
        <p:style>
          <a:lnRef idx="1">
            <a:schemeClr val="accent1"/>
          </a:lnRef>
          <a:fillRef idx="3">
            <a:schemeClr val="accent1"/>
          </a:fillRef>
          <a:effectRef idx="2">
            <a:schemeClr val="accent1"/>
          </a:effectRef>
          <a:fontRef idx="minor">
            <a:schemeClr val="lt1"/>
          </a:fontRef>
        </p:style>
        <p:txBody>
          <a:bodyPr rtlCol="0" anchor="t" wrap="square" lIns="140000" rIns="140000" tIns="100000" bIns="70000"/>
          <a:lstStyle/>
          <a:p>
            <a:pPr algn="l">
              <a:spcAft>
                <a:spcPts val="300"/>
              </a:spcAft>
              <a:buNone/>
            </a:pPr>
            <a:r>
              <a:rPr sz="1900" b="1" i="0">
                <a:solidFill>
                  <a:srgbClr val="C00000"/>
                </a:solidFill>
                <a:latin typeface="Bookman Old Style" panose="02050604050505020204"/>
                <a:ea typeface="Bookman Old Style" panose="02050604050505020204"/>
                <a:cs typeface="Bookman Old Style" panose="02050604050505020204"/>
              </a:rPr>
              <a:t>Overview of SquadUp</a:t>
            </a:r>
          </a:p>
          <a:p>
            <a:pPr algn="l" marL="190000" indent="-190000">
              <a:spcAft>
                <a:spcPts val="300"/>
              </a:spcAft>
              <a:buFont typeface="Arial"/>
              <a:buChar char="•"/>
            </a:pPr>
            <a:r>
              <a:rPr sz="1700" b="0" i="0">
                <a:solidFill>
                  <a:srgbClr val="262626"/>
                </a:solidFill>
                <a:latin typeface="Bookman Old Style" panose="02050604050505020204"/>
                <a:ea typeface="Bookman Old Style" panose="02050604050505020204"/>
                <a:cs typeface="Bookman Old Style" panose="02050604050505020204"/>
              </a:rPr>
              <a:t>Enterprise web application that fixes the social gaps in online multiplayer gaming</a:t>
            </a:r>
          </a:p>
          <a:p>
            <a:pPr algn="l" marL="190000" indent="-190000">
              <a:spcAft>
                <a:spcPts val="300"/>
              </a:spcAft>
              <a:buFont typeface="Arial"/>
              <a:buChar char="•"/>
            </a:pPr>
            <a:r>
              <a:rPr sz="1700" b="0" i="0">
                <a:solidFill>
                  <a:srgbClr val="262626"/>
                </a:solidFill>
                <a:latin typeface="Bookman Old Style" panose="02050604050505020204"/>
                <a:ea typeface="Bookman Old Style" panose="02050604050505020204"/>
                <a:cs typeface="Bookman Old Style" panose="02050604050505020204"/>
              </a:rPr>
              <a:t>Players create and join Squad Lobbies ("Looking for Group") built around game title, spoken language, skill level and playstyle</a:t>
            </a:r>
          </a:p>
          <a:p>
            <a:pPr algn="l" marL="190000" indent="-190000">
              <a:spcAft>
                <a:spcPts val="300"/>
              </a:spcAft>
              <a:buFont typeface="Arial"/>
              <a:buChar char="•"/>
            </a:pPr>
            <a:r>
              <a:rPr sz="1700" b="0" i="0">
                <a:solidFill>
                  <a:srgbClr val="262626"/>
                </a:solidFill>
                <a:latin typeface="Bookman Old Style" panose="02050604050505020204"/>
                <a:ea typeface="Bookman Old Style" panose="02050604050505020204"/>
                <a:cs typeface="Bookman Old Style" panose="02050604050505020204"/>
              </a:rPr>
              <a:t>Manage profiles and build friend lists</a:t>
            </a:r>
          </a:p>
          <a:p>
            <a:pPr algn="l" marL="190000" indent="-190000">
              <a:spcAft>
                <a:spcPts val="300"/>
              </a:spcAft>
              <a:buFont typeface="Arial"/>
              <a:buChar char="•"/>
            </a:pPr>
            <a:r>
              <a:rPr sz="1700" b="0" i="0">
                <a:solidFill>
                  <a:srgbClr val="262626"/>
                </a:solidFill>
                <a:latin typeface="Bookman Old Style" panose="02050604050505020204"/>
                <a:ea typeface="Bookman Old Style" panose="02050604050505020204"/>
                <a:cs typeface="Bookman Old Style" panose="02050604050505020204"/>
              </a:rPr>
              <a:t>Receive AI-weighted squad recommendations</a:t>
            </a:r>
          </a:p>
          <a:p>
            <a:pPr algn="l" marL="190000" indent="-190000">
              <a:spcAft>
                <a:spcPts val="300"/>
              </a:spcAft>
              <a:buFont typeface="Arial"/>
              <a:buChar char="•"/>
            </a:pPr>
            <a:r>
              <a:rPr sz="1700" b="0" i="0">
                <a:solidFill>
                  <a:srgbClr val="262626"/>
                </a:solidFill>
                <a:latin typeface="Bookman Old Style" panose="02050604050505020204"/>
                <a:ea typeface="Bookman Old Style" panose="02050604050505020204"/>
                <a:cs typeface="Bookman Old Style" panose="02050604050505020204"/>
              </a:rPr>
              <a:t>Chat in real time across squad lobbies and direct messages</a:t>
            </a:r>
          </a:p>
        </p:txBody>
      </p:sp>
      <p:sp>
        <p:nvSpPr>
          <p:cNvPr id="4" name="Rounded Rectangle 3"/>
          <p:cNvSpPr/>
          <p:nvPr/>
        </p:nvSpPr>
        <p:spPr>
          <a:xfrm>
            <a:off x="6250000" y="1350000"/>
            <a:ext cx="5100000" cy="4150000"/>
          </a:xfrm>
          <a:prstGeom prst="roundRect">
            <a:avLst>
              <a:gd name="adj" fmla="val 6000"/>
            </a:avLst>
          </a:prstGeom>
          <a:solidFill>
            <a:srgbClr val="EAF3FB"/>
          </a:solidFill>
          <a:ln>
            <a:noFill/>
          </a:ln>
        </p:spPr>
        <p:style>
          <a:lnRef idx="1">
            <a:schemeClr val="accent1"/>
          </a:lnRef>
          <a:fillRef idx="3">
            <a:schemeClr val="accent1"/>
          </a:fillRef>
          <a:effectRef idx="2">
            <a:schemeClr val="accent1"/>
          </a:effectRef>
          <a:fontRef idx="minor">
            <a:schemeClr val="lt1"/>
          </a:fontRef>
        </p:style>
        <p:txBody>
          <a:bodyPr rtlCol="0" anchor="t" wrap="square" lIns="140000" rIns="140000" tIns="100000" bIns="70000"/>
          <a:lstStyle/>
          <a:p>
            <a:pPr algn="l">
              <a:spcAft>
                <a:spcPts val="300"/>
              </a:spcAft>
              <a:buNone/>
            </a:pPr>
            <a:r>
              <a:rPr sz="1900" b="1" i="0">
                <a:solidFill>
                  <a:srgbClr val="C00000"/>
                </a:solidFill>
                <a:latin typeface="Bookman Old Style" panose="02050604050505020204"/>
                <a:ea typeface="Bookman Old Style" panose="02050604050505020204"/>
                <a:cs typeface="Bookman Old Style" panose="02050604050505020204"/>
              </a:rPr>
              <a:t>Objectives &amp; Academic Scope</a:t>
            </a:r>
          </a:p>
          <a:p>
            <a:pPr algn="l" marL="190000" indent="-190000">
              <a:spcAft>
                <a:spcPts val="300"/>
              </a:spcAft>
              <a:buFont typeface="Arial"/>
              <a:buChar char="•"/>
            </a:pPr>
            <a:r>
              <a:rPr sz="1700" b="0" i="0">
                <a:solidFill>
                  <a:srgbClr val="262626"/>
                </a:solidFill>
                <a:latin typeface="Bookman Old Style" panose="02050604050505020204"/>
                <a:ea typeface="Bookman Old Style" panose="02050604050505020204"/>
                <a:cs typeface="Bookman Old Style" panose="02050604050505020204"/>
              </a:rPr>
              <a:t>Dual API: RESTful JSON (/api/v1, /api/v2) and SOAP XML web services</a:t>
            </a:r>
          </a:p>
          <a:p>
            <a:pPr algn="l" marL="190000" indent="-190000">
              <a:spcAft>
                <a:spcPts val="300"/>
              </a:spcAft>
              <a:buFont typeface="Arial"/>
              <a:buChar char="•"/>
            </a:pPr>
            <a:r>
              <a:rPr sz="1700" b="0" i="0">
                <a:solidFill>
                  <a:srgbClr val="262626"/>
                </a:solidFill>
                <a:latin typeface="Bookman Old Style" panose="02050604050505020204"/>
                <a:ea typeface="Bookman Old Style" panose="02050604050505020204"/>
                <a:cs typeface="Bookman Old Style" panose="02050604050505020204"/>
              </a:rPr>
              <a:t>Stateless Bearer-token security with ownership guards</a:t>
            </a:r>
          </a:p>
          <a:p>
            <a:pPr algn="l" marL="190000" indent="-190000">
              <a:spcAft>
                <a:spcPts val="300"/>
              </a:spcAft>
              <a:buFont typeface="Arial"/>
              <a:buChar char="•"/>
            </a:pPr>
            <a:r>
              <a:rPr sz="1700" b="0" i="0">
                <a:solidFill>
                  <a:srgbClr val="262626"/>
                </a:solidFill>
                <a:latin typeface="Bookman Old Style" panose="02050604050505020204"/>
                <a:ea typeface="Bookman Old Style" panose="02050604050505020204"/>
                <a:cs typeface="Bookman Old Style" panose="02050604050505020204"/>
              </a:rPr>
              <a:t>Dynamic search using JPA Criteria API and Matrix Variables</a:t>
            </a:r>
          </a:p>
          <a:p>
            <a:pPr algn="l" marL="190000" indent="-190000">
              <a:spcAft>
                <a:spcPts val="300"/>
              </a:spcAft>
              <a:buFont typeface="Arial"/>
              <a:buChar char="•"/>
            </a:pPr>
            <a:r>
              <a:rPr sz="1700" b="0" i="0">
                <a:solidFill>
                  <a:srgbClr val="262626"/>
                </a:solidFill>
                <a:latin typeface="Bookman Old Style" panose="02050604050505020204"/>
                <a:ea typeface="Bookman Old Style" panose="02050604050505020204"/>
                <a:cs typeface="Bookman Old Style" panose="02050604050505020204"/>
              </a:rPr>
              <a:t>Concurrency-safe squad joins with pessimistic locking</a:t>
            </a:r>
          </a:p>
          <a:p>
            <a:pPr algn="l" marL="190000" indent="-190000">
              <a:spcAft>
                <a:spcPts val="300"/>
              </a:spcAft>
              <a:buFont typeface="Arial"/>
              <a:buChar char="•"/>
            </a:pPr>
            <a:r>
              <a:rPr sz="1700" b="0" i="0">
                <a:solidFill>
                  <a:srgbClr val="262626"/>
                </a:solidFill>
                <a:latin typeface="Bookman Old Style" panose="02050604050505020204"/>
                <a:ea typeface="Bookman Old Style" panose="02050604050505020204"/>
                <a:cs typeface="Bookman Old Style" panose="02050604050505020204"/>
              </a:rPr>
              <a:t>Real-time STOMP WebSocket chat and live notifications</a:t>
            </a:r>
          </a:p>
          <a:p>
            <a:pPr algn="l" marL="190000" indent="-190000">
              <a:spcAft>
                <a:spcPts val="300"/>
              </a:spcAft>
              <a:buFont typeface="Arial"/>
              <a:buChar char="•"/>
            </a:pPr>
            <a:r>
              <a:rPr sz="1700" b="0" i="0">
                <a:solidFill>
                  <a:srgbClr val="262626"/>
                </a:solidFill>
                <a:latin typeface="Bookman Old Style" panose="02050604050505020204"/>
                <a:ea typeface="Bookman Old Style" panose="02050604050505020204"/>
                <a:cs typeface="Bookman Old Style" panose="02050604050505020204"/>
              </a:rPr>
              <a:t>AOP for logging, performance timing and audit trails</a:t>
            </a:r>
          </a:p>
        </p:txBody>
      </p:sp>
      <p:sp>
        <p:nvSpPr>
          <p:cNvPr id="5" name="TextBox 4"/>
          <p:cNvSpPr txBox="1"/>
          <p:nvPr/>
        </p:nvSpPr>
        <p:spPr>
          <a:xfrm>
            <a:off x="900000" y="5650000"/>
            <a:ext cx="10450000" cy="548640"/>
          </a:xfrm>
          <a:prstGeom prst="rect">
            <a:avLst/>
          </a:prstGeom>
          <a:noFill/>
        </p:spPr>
        <p:txBody>
          <a:bodyPr wrap="square" anchor="ctr">
            <a:spAutoFit/>
          </a:bodyPr>
          <a:lstStyle/>
          <a:p>
            <a:pPr algn="l">
              <a:spcAft>
                <a:spcPts val="300"/>
              </a:spcAft>
              <a:buNone/>
            </a:pPr>
            <a:r>
              <a:rPr sz="1400" b="1" i="0">
                <a:solidFill>
                  <a:srgbClr val="0070C0"/>
                </a:solidFill>
                <a:latin typeface="Bookman Old Style" panose="02050604050505020204"/>
                <a:ea typeface="Bookman Old Style" panose="02050604050505020204"/>
                <a:cs typeface="Bookman Old Style" panose="02050604050505020204"/>
              </a:rPr>
              <a:t>Built on Spring Boot 3.5 to meet the comprehensive requirements of the API &amp; Micro Services curriculum (241AI024).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00000" y="280000"/>
            <a:ext cx="9200000" cy="518160"/>
          </a:xfrm>
          <a:prstGeom prst="rect">
            <a:avLst/>
          </a:prstGeom>
          <a:noFill/>
        </p:spPr>
        <p:txBody>
          <a:bodyPr wrap="square" anchor="ctr">
            <a:spAutoFit/>
          </a:bodyPr>
          <a:lstStyle/>
          <a:p>
            <a:pPr algn="ctr"/>
            <a:r>
              <a:rPr sz="2800" b="1" i="0">
                <a:solidFill>
                  <a:srgbClr val="0070C0"/>
                </a:solidFill>
                <a:latin typeface="Bookman Old Style" panose="02050604050505020204"/>
                <a:ea typeface="Bookman Old Style" panose="02050604050505020204"/>
                <a:cs typeface="Bookman Old Style" panose="02050604050505020204"/>
              </a:rPr>
              <a:t>Problem Statement &amp; Motivation</a:t>
            </a:r>
          </a:p>
        </p:txBody>
      </p:sp>
      <p:sp>
        <p:nvSpPr>
          <p:cNvPr id="3" name="TextBox 2"/>
          <p:cNvSpPr txBox="1"/>
          <p:nvPr/>
        </p:nvSpPr>
        <p:spPr>
          <a:xfrm>
            <a:off x="900000" y="1200000"/>
            <a:ext cx="10450000" cy="579120"/>
          </a:xfrm>
          <a:prstGeom prst="rect">
            <a:avLst/>
          </a:prstGeom>
          <a:noFill/>
        </p:spPr>
        <p:txBody>
          <a:bodyPr wrap="square" anchor="ctr">
            <a:spAutoFit/>
          </a:bodyPr>
          <a:lstStyle/>
          <a:p>
            <a:pPr algn="l">
              <a:spcAft>
                <a:spcPts val="300"/>
              </a:spcAft>
              <a:buNone/>
            </a:pPr>
            <a:r>
              <a:rPr sz="1700" b="1" i="0">
                <a:solidFill>
                  <a:srgbClr val="0070C0"/>
                </a:solidFill>
                <a:latin typeface="Bookman Old Style" panose="02050604050505020204"/>
                <a:ea typeface="Bookman Old Style" panose="02050604050505020204"/>
                <a:cs typeface="Bookman Old Style" panose="02050604050505020204"/>
              </a:rPr>
              <a:t>Standard matchmaking relies only on skill (MMR) and ping, ignoring whether players are actually compatible.</a:t>
            </a:r>
          </a:p>
        </p:txBody>
      </p:sp>
      <p:sp>
        <p:nvSpPr>
          <p:cNvPr id="4" name="Rounded Rectangle 3"/>
          <p:cNvSpPr/>
          <p:nvPr/>
        </p:nvSpPr>
        <p:spPr>
          <a:xfrm>
            <a:off x="900000" y="1900000"/>
            <a:ext cx="5100000" cy="3950000"/>
          </a:xfrm>
          <a:prstGeom prst="roundRect">
            <a:avLst>
              <a:gd name="adj" fmla="val 6000"/>
            </a:avLst>
          </a:prstGeom>
          <a:solidFill>
            <a:srgbClr val="EAF3FB"/>
          </a:solidFill>
          <a:ln>
            <a:noFill/>
          </a:ln>
        </p:spPr>
        <p:style>
          <a:lnRef idx="1">
            <a:schemeClr val="accent1"/>
          </a:lnRef>
          <a:fillRef idx="3">
            <a:schemeClr val="accent1"/>
          </a:fillRef>
          <a:effectRef idx="2">
            <a:schemeClr val="accent1"/>
          </a:effectRef>
          <a:fontRef idx="minor">
            <a:schemeClr val="lt1"/>
          </a:fontRef>
        </p:style>
        <p:txBody>
          <a:bodyPr rtlCol="0" anchor="t" wrap="square" lIns="140000" rIns="140000" tIns="100000" bIns="70000"/>
          <a:lstStyle/>
          <a:p>
            <a:pPr algn="l">
              <a:spcAft>
                <a:spcPts val="300"/>
              </a:spcAft>
              <a:buNone/>
            </a:pPr>
            <a:r>
              <a:rPr sz="1900" b="1" i="0">
                <a:solidFill>
                  <a:srgbClr val="C00000"/>
                </a:solidFill>
                <a:latin typeface="Bookman Old Style" panose="02050604050505020204"/>
                <a:ea typeface="Bookman Old Style" panose="02050604050505020204"/>
                <a:cs typeface="Bookman Old Style" panose="02050604050505020204"/>
              </a:rPr>
              <a:t>The Problem</a:t>
            </a:r>
          </a:p>
          <a:p>
            <a:pPr algn="l" marL="190000" indent="-190000">
              <a:spcAft>
                <a:spcPts val="300"/>
              </a:spcAft>
              <a:buFont typeface="Arial"/>
              <a:buChar char="•"/>
            </a:pPr>
            <a:r>
              <a:rPr sz="1700" b="1" i="0">
                <a:solidFill>
                  <a:srgbClr val="262626"/>
                </a:solidFill>
                <a:latin typeface="Bookman Old Style" panose="02050604050505020204"/>
                <a:ea typeface="Bookman Old Style" panose="02050604050505020204"/>
                <a:cs typeface="Bookman Old Style" panose="02050604050505020204"/>
              </a:rPr>
              <a:t>Communication Breakdown:</a:t>
            </a:r>
            <a:r>
              <a:rPr sz="1700" b="0" i="0">
                <a:solidFill>
                  <a:srgbClr val="262626"/>
                </a:solidFill>
                <a:latin typeface="Bookman Old Style" panose="02050604050505020204"/>
                <a:ea typeface="Bookman Old Style" panose="02050604050505020204"/>
                <a:cs typeface="Bookman Old Style" panose="02050604050505020204"/>
              </a:rPr>
              <a:t> players are queued with teammates who do not speak the same language</a:t>
            </a:r>
          </a:p>
          <a:p>
            <a:pPr algn="l" marL="190000" indent="-190000">
              <a:spcAft>
                <a:spcPts val="300"/>
              </a:spcAft>
              <a:buFont typeface="Arial"/>
              <a:buChar char="•"/>
            </a:pPr>
            <a:r>
              <a:rPr sz="1700" b="1" i="0">
                <a:solidFill>
                  <a:srgbClr val="262626"/>
                </a:solidFill>
                <a:latin typeface="Bookman Old Style" panose="02050604050505020204"/>
                <a:ea typeface="Bookman Old Style" panose="02050604050505020204"/>
                <a:cs typeface="Bookman Old Style" panose="02050604050505020204"/>
              </a:rPr>
              <a:t>Playstyle Clashes:</a:t>
            </a:r>
            <a:r>
              <a:rPr sz="1700" b="0" i="0">
                <a:solidFill>
                  <a:srgbClr val="262626"/>
                </a:solidFill>
                <a:latin typeface="Bookman Old Style" panose="02050604050505020204"/>
                <a:ea typeface="Bookman Old Style" panose="02050604050505020204"/>
                <a:cs typeface="Bookman Old Style" panose="02050604050505020204"/>
              </a:rPr>
              <a:t> casual players are paired with hyper-competitive players, creating toxic environments</a:t>
            </a:r>
          </a:p>
          <a:p>
            <a:pPr algn="l" marL="190000" indent="-190000">
              <a:spcAft>
                <a:spcPts val="300"/>
              </a:spcAft>
              <a:buFont typeface="Arial"/>
              <a:buChar char="•"/>
            </a:pPr>
            <a:r>
              <a:rPr sz="1700" b="1" i="0">
                <a:solidFill>
                  <a:srgbClr val="262626"/>
                </a:solidFill>
                <a:latin typeface="Bookman Old Style" panose="02050604050505020204"/>
                <a:ea typeface="Bookman Old Style" panose="02050604050505020204"/>
                <a:cs typeface="Bookman Old Style" panose="02050604050505020204"/>
              </a:rPr>
              <a:t>Social Disconnect:</a:t>
            </a:r>
            <a:r>
              <a:rPr sz="1700" b="0" i="0">
                <a:solidFill>
                  <a:srgbClr val="262626"/>
                </a:solidFill>
                <a:latin typeface="Bookman Old Style" panose="02050604050505020204"/>
                <a:ea typeface="Bookman Old Style" panose="02050604050505020204"/>
                <a:cs typeface="Bookman Old Style" panose="02050604050505020204"/>
              </a:rPr>
              <a:t> teams disband after a single match, so lasting gaming groups are hard to form</a:t>
            </a:r>
          </a:p>
        </p:txBody>
      </p:sp>
      <p:sp>
        <p:nvSpPr>
          <p:cNvPr id="5" name="Rounded Rectangle 4"/>
          <p:cNvSpPr/>
          <p:nvPr/>
        </p:nvSpPr>
        <p:spPr>
          <a:xfrm>
            <a:off x="6250000" y="1900000"/>
            <a:ext cx="5100000" cy="3950000"/>
          </a:xfrm>
          <a:prstGeom prst="roundRect">
            <a:avLst>
              <a:gd name="adj" fmla="val 6000"/>
            </a:avLst>
          </a:prstGeom>
          <a:solidFill>
            <a:srgbClr val="EAF3FB"/>
          </a:solidFill>
          <a:ln>
            <a:noFill/>
          </a:ln>
        </p:spPr>
        <p:style>
          <a:lnRef idx="1">
            <a:schemeClr val="accent1"/>
          </a:lnRef>
          <a:fillRef idx="3">
            <a:schemeClr val="accent1"/>
          </a:fillRef>
          <a:effectRef idx="2">
            <a:schemeClr val="accent1"/>
          </a:effectRef>
          <a:fontRef idx="minor">
            <a:schemeClr val="lt1"/>
          </a:fontRef>
        </p:style>
        <p:txBody>
          <a:bodyPr rtlCol="0" anchor="t" wrap="square" lIns="140000" rIns="140000" tIns="100000" bIns="70000"/>
          <a:lstStyle/>
          <a:p>
            <a:pPr algn="l">
              <a:spcAft>
                <a:spcPts val="300"/>
              </a:spcAft>
              <a:buNone/>
            </a:pPr>
            <a:r>
              <a:rPr sz="1900" b="1" i="0">
                <a:solidFill>
                  <a:srgbClr val="C00000"/>
                </a:solidFill>
                <a:latin typeface="Bookman Old Style" panose="02050604050505020204"/>
                <a:ea typeface="Bookman Old Style" panose="02050604050505020204"/>
                <a:cs typeface="Bookman Old Style" panose="02050604050505020204"/>
              </a:rPr>
              <a:t>The SquadUp Solution</a:t>
            </a:r>
          </a:p>
          <a:p>
            <a:pPr algn="l" marL="190000" indent="-190000">
              <a:spcAft>
                <a:spcPts val="300"/>
              </a:spcAft>
              <a:buFont typeface="Arial"/>
              <a:buChar char="•"/>
            </a:pPr>
            <a:r>
              <a:rPr sz="1700" b="1" i="0">
                <a:solidFill>
                  <a:srgbClr val="262626"/>
                </a:solidFill>
                <a:latin typeface="Bookman Old Style" panose="02050604050505020204"/>
                <a:ea typeface="Bookman Old Style" panose="02050604050505020204"/>
                <a:cs typeface="Bookman Old Style" panose="02050604050505020204"/>
              </a:rPr>
              <a:t>Compatibility-First Matching:</a:t>
            </a:r>
            <a:r>
              <a:rPr sz="1700" b="0" i="0">
                <a:solidFill>
                  <a:srgbClr val="262626"/>
                </a:solidFill>
                <a:latin typeface="Bookman Old Style" panose="02050604050505020204"/>
                <a:ea typeface="Bookman Old Style" panose="02050604050505020204"/>
                <a:cs typeface="Bookman Old Style" panose="02050604050505020204"/>
              </a:rPr>
              <a:t> filter and create squads by game, spoken language and playstyle</a:t>
            </a:r>
          </a:p>
          <a:p>
            <a:pPr algn="l" marL="190000" indent="-190000">
              <a:spcAft>
                <a:spcPts val="300"/>
              </a:spcAft>
              <a:buFont typeface="Arial"/>
              <a:buChar char="•"/>
            </a:pPr>
            <a:r>
              <a:rPr sz="1700" b="1" i="0">
                <a:solidFill>
                  <a:srgbClr val="262626"/>
                </a:solidFill>
                <a:latin typeface="Bookman Old Style" panose="02050604050505020204"/>
                <a:ea typeface="Bookman Old Style" panose="02050604050505020204"/>
                <a:cs typeface="Bookman Old Style" panose="02050604050505020204"/>
              </a:rPr>
              <a:t>Weighted Recommendation Engine:</a:t>
            </a:r>
            <a:r>
              <a:rPr sz="1700" b="0" i="0">
                <a:solidFill>
                  <a:srgbClr val="262626"/>
                </a:solidFill>
                <a:latin typeface="Bookman Old Style" panose="02050604050505020204"/>
                <a:ea typeface="Bookman Old Style" panose="02050604050505020204"/>
                <a:cs typeface="Bookman Old Style" panose="02050604050505020204"/>
              </a:rPr>
              <a:t> compatibility score (%) for open squads based on user preferences</a:t>
            </a:r>
          </a:p>
          <a:p>
            <a:pPr algn="l" marL="190000" indent="-190000">
              <a:spcAft>
                <a:spcPts val="300"/>
              </a:spcAft>
              <a:buFont typeface="Arial"/>
              <a:buChar char="•"/>
            </a:pPr>
            <a:r>
              <a:rPr sz="1700" b="1" i="0">
                <a:solidFill>
                  <a:srgbClr val="262626"/>
                </a:solidFill>
                <a:latin typeface="Bookman Old Style" panose="02050604050505020204"/>
                <a:ea typeface="Bookman Old Style" panose="02050604050505020204"/>
                <a:cs typeface="Bookman Old Style" panose="02050604050505020204"/>
              </a:rPr>
              <a:t>Integrated Social &amp; Chat:</a:t>
            </a:r>
            <a:r>
              <a:rPr sz="1700" b="0" i="0">
                <a:solidFill>
                  <a:srgbClr val="262626"/>
                </a:solidFill>
                <a:latin typeface="Bookman Old Style" panose="02050604050505020204"/>
                <a:ea typeface="Bookman Old Style" panose="02050604050505020204"/>
                <a:cs typeface="Bookman Old Style" panose="02050604050505020204"/>
              </a:rPr>
              <a:t> real-time STOMP chat with automatic profanity moderation, friend management and live notifications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00000" y="280000"/>
            <a:ext cx="9200000" cy="518160"/>
          </a:xfrm>
          <a:prstGeom prst="rect">
            <a:avLst/>
          </a:prstGeom>
          <a:noFill/>
        </p:spPr>
        <p:txBody>
          <a:bodyPr wrap="square" anchor="ctr">
            <a:spAutoFit/>
          </a:bodyPr>
          <a:lstStyle/>
          <a:p>
            <a:pPr algn="ctr"/>
            <a:r>
              <a:rPr sz="2800" b="1" i="0">
                <a:solidFill>
                  <a:srgbClr val="0070C0"/>
                </a:solidFill>
                <a:latin typeface="Bookman Old Style" panose="02050604050505020204"/>
                <a:ea typeface="Bookman Old Style" panose="02050604050505020204"/>
                <a:cs typeface="Bookman Old Style" panose="02050604050505020204"/>
              </a:rPr>
              <a:t>System Architecture &amp; Data Flow</a:t>
            </a:r>
          </a:p>
        </p:txBody>
      </p:sp>
      <p:sp>
        <p:nvSpPr>
          <p:cNvPr id="3" name="Rounded Rectangle 2"/>
          <p:cNvSpPr/>
          <p:nvPr/>
        </p:nvSpPr>
        <p:spPr>
          <a:xfrm>
            <a:off x="900000" y="1300000"/>
            <a:ext cx="1525000" cy="1250000"/>
          </a:xfrm>
          <a:prstGeom prst="roundRect">
            <a:avLst>
              <a:gd name="adj" fmla="val 9000"/>
            </a:avLst>
          </a:prstGeom>
          <a:solidFill>
            <a:srgbClr val="EAF3FB"/>
          </a:solidFill>
          <a:ln>
            <a:no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100000" bIns="70000"/>
          <a:lstStyle/>
          <a:p>
            <a:pPr algn="ctr">
              <a:spcAft>
                <a:spcPts val="300"/>
              </a:spcAft>
              <a:buNone/>
            </a:pPr>
            <a:r>
              <a:rPr sz="1300" b="1" i="0">
                <a:solidFill>
                  <a:srgbClr val="C00000"/>
                </a:solidFill>
                <a:latin typeface="Bookman Old Style" panose="02050604050505020204"/>
                <a:ea typeface="Bookman Old Style" panose="02050604050505020204"/>
                <a:cs typeface="Bookman Old Style" panose="02050604050505020204"/>
              </a:rPr>
              <a:t>Browser Client</a:t>
            </a:r>
          </a:p>
          <a:p>
            <a:pPr algn="ctr">
              <a:spcAft>
                <a:spcPts val="300"/>
              </a:spcAft>
              <a:buNone/>
            </a:pPr>
            <a:r>
              <a:rPr sz="1100" b="0" i="0">
                <a:solidFill>
                  <a:srgbClr val="262626"/>
                </a:solidFill>
                <a:latin typeface="Bookman Old Style" panose="02050604050505020204"/>
                <a:ea typeface="Bookman Old Style" panose="02050604050505020204"/>
                <a:cs typeface="Bookman Old Style" panose="02050604050505020204"/>
              </a:rPr>
              <a:t>HTML5 · CSS3 · JavaScript</a:t>
            </a:r>
          </a:p>
        </p:txBody>
      </p:sp>
      <p:sp>
        <p:nvSpPr>
          <p:cNvPr id="4" name="TextBox 3"/>
          <p:cNvSpPr txBox="1"/>
          <p:nvPr/>
        </p:nvSpPr>
        <p:spPr>
          <a:xfrm>
            <a:off x="2430000" y="1757360"/>
            <a:ext cx="250000" cy="335280"/>
          </a:xfrm>
          <a:prstGeom prst="rect">
            <a:avLst/>
          </a:prstGeom>
          <a:noFill/>
        </p:spPr>
        <p:txBody>
          <a:bodyPr wrap="none" anchor="ctr" lIns="0" rIns="0">
            <a:spAutoFit/>
          </a:bodyPr>
          <a:lstStyle/>
          <a:p>
            <a:pPr algn="ctr"/>
            <a:r>
              <a:rPr sz="2000" b="1" i="0">
                <a:solidFill>
                  <a:srgbClr val="0070C0"/>
                </a:solidFill>
                <a:latin typeface="Bookman Old Style" panose="02050604050505020204"/>
                <a:ea typeface="Bookman Old Style" panose="02050604050505020204"/>
                <a:cs typeface="Bookman Old Style" panose="02050604050505020204"/>
              </a:rPr>
              <a:t>→</a:t>
            </a:r>
          </a:p>
        </p:txBody>
      </p:sp>
      <p:sp>
        <p:nvSpPr>
          <p:cNvPr id="5" name="Rounded Rectangle 4"/>
          <p:cNvSpPr/>
          <p:nvPr/>
        </p:nvSpPr>
        <p:spPr>
          <a:xfrm>
            <a:off x="2685000" y="1300000"/>
            <a:ext cx="1525000" cy="1250000"/>
          </a:xfrm>
          <a:prstGeom prst="roundRect">
            <a:avLst>
              <a:gd name="adj" fmla="val 9000"/>
            </a:avLst>
          </a:prstGeom>
          <a:solidFill>
            <a:srgbClr val="EAF3FB"/>
          </a:solidFill>
          <a:ln>
            <a:no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100000" bIns="70000"/>
          <a:lstStyle/>
          <a:p>
            <a:pPr algn="ctr">
              <a:spcAft>
                <a:spcPts val="300"/>
              </a:spcAft>
              <a:buNone/>
            </a:pPr>
            <a:r>
              <a:rPr sz="1300" b="1" i="0">
                <a:solidFill>
                  <a:srgbClr val="C00000"/>
                </a:solidFill>
                <a:latin typeface="Bookman Old Style" panose="02050604050505020204"/>
                <a:ea typeface="Bookman Old Style" panose="02050604050505020204"/>
                <a:cs typeface="Bookman Old Style" panose="02050604050505020204"/>
              </a:rPr>
              <a:t>Security Filter</a:t>
            </a:r>
          </a:p>
          <a:p>
            <a:pPr algn="ctr">
              <a:spcAft>
                <a:spcPts val="300"/>
              </a:spcAft>
              <a:buNone/>
            </a:pPr>
            <a:r>
              <a:rPr sz="1100" b="0" i="0">
                <a:solidFill>
                  <a:srgbClr val="262626"/>
                </a:solidFill>
                <a:latin typeface="Bookman Old Style" panose="02050604050505020204"/>
                <a:ea typeface="Bookman Old Style" panose="02050604050505020204"/>
                <a:cs typeface="Bookman Old Style" panose="02050604050505020204"/>
              </a:rPr>
              <a:t>Token Authentication</a:t>
            </a:r>
          </a:p>
        </p:txBody>
      </p:sp>
      <p:sp>
        <p:nvSpPr>
          <p:cNvPr id="6" name="TextBox 5"/>
          <p:cNvSpPr txBox="1"/>
          <p:nvPr/>
        </p:nvSpPr>
        <p:spPr>
          <a:xfrm>
            <a:off x="4215000" y="1757360"/>
            <a:ext cx="250000" cy="335280"/>
          </a:xfrm>
          <a:prstGeom prst="rect">
            <a:avLst/>
          </a:prstGeom>
          <a:noFill/>
        </p:spPr>
        <p:txBody>
          <a:bodyPr wrap="none" anchor="ctr" lIns="0" rIns="0">
            <a:spAutoFit/>
          </a:bodyPr>
          <a:lstStyle/>
          <a:p>
            <a:pPr algn="ctr"/>
            <a:r>
              <a:rPr sz="2000" b="1" i="0">
                <a:solidFill>
                  <a:srgbClr val="0070C0"/>
                </a:solidFill>
                <a:latin typeface="Bookman Old Style" panose="02050604050505020204"/>
                <a:ea typeface="Bookman Old Style" panose="02050604050505020204"/>
                <a:cs typeface="Bookman Old Style" panose="02050604050505020204"/>
              </a:rPr>
              <a:t>→</a:t>
            </a:r>
          </a:p>
        </p:txBody>
      </p:sp>
      <p:sp>
        <p:nvSpPr>
          <p:cNvPr id="7" name="Rounded Rectangle 6"/>
          <p:cNvSpPr/>
          <p:nvPr/>
        </p:nvSpPr>
        <p:spPr>
          <a:xfrm>
            <a:off x="4470000" y="1300000"/>
            <a:ext cx="1525000" cy="1250000"/>
          </a:xfrm>
          <a:prstGeom prst="roundRect">
            <a:avLst>
              <a:gd name="adj" fmla="val 9000"/>
            </a:avLst>
          </a:prstGeom>
          <a:solidFill>
            <a:srgbClr val="EAF3FB"/>
          </a:solidFill>
          <a:ln>
            <a:no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100000" bIns="70000"/>
          <a:lstStyle/>
          <a:p>
            <a:pPr algn="ctr">
              <a:spcAft>
                <a:spcPts val="300"/>
              </a:spcAft>
              <a:buNone/>
            </a:pPr>
            <a:r>
              <a:rPr sz="1300" b="1" i="0">
                <a:solidFill>
                  <a:srgbClr val="C00000"/>
                </a:solidFill>
                <a:latin typeface="Bookman Old Style" panose="02050604050505020204"/>
                <a:ea typeface="Bookman Old Style" panose="02050604050505020204"/>
                <a:cs typeface="Bookman Old Style" panose="02050604050505020204"/>
              </a:rPr>
              <a:t>REST / SOAP / WS</a:t>
            </a:r>
          </a:p>
          <a:p>
            <a:pPr algn="ctr">
              <a:spcAft>
                <a:spcPts val="300"/>
              </a:spcAft>
              <a:buNone/>
            </a:pPr>
            <a:r>
              <a:rPr sz="1100" b="0" i="0">
                <a:solidFill>
                  <a:srgbClr val="262626"/>
                </a:solidFill>
                <a:latin typeface="Bookman Old Style" panose="02050604050505020204"/>
                <a:ea typeface="Bookman Old Style" panose="02050604050505020204"/>
                <a:cs typeface="Bookman Old Style" panose="02050604050505020204"/>
              </a:rPr>
              <a:t>API entry points</a:t>
            </a:r>
          </a:p>
        </p:txBody>
      </p:sp>
      <p:sp>
        <p:nvSpPr>
          <p:cNvPr id="8" name="TextBox 7"/>
          <p:cNvSpPr txBox="1"/>
          <p:nvPr/>
        </p:nvSpPr>
        <p:spPr>
          <a:xfrm>
            <a:off x="6000000" y="1757360"/>
            <a:ext cx="250000" cy="335280"/>
          </a:xfrm>
          <a:prstGeom prst="rect">
            <a:avLst/>
          </a:prstGeom>
          <a:noFill/>
        </p:spPr>
        <p:txBody>
          <a:bodyPr wrap="none" anchor="ctr" lIns="0" rIns="0">
            <a:spAutoFit/>
          </a:bodyPr>
          <a:lstStyle/>
          <a:p>
            <a:pPr algn="ctr"/>
            <a:r>
              <a:rPr sz="2000" b="1" i="0">
                <a:solidFill>
                  <a:srgbClr val="0070C0"/>
                </a:solidFill>
                <a:latin typeface="Bookman Old Style" panose="02050604050505020204"/>
                <a:ea typeface="Bookman Old Style" panose="02050604050505020204"/>
                <a:cs typeface="Bookman Old Style" panose="02050604050505020204"/>
              </a:rPr>
              <a:t>→</a:t>
            </a:r>
          </a:p>
        </p:txBody>
      </p:sp>
      <p:sp>
        <p:nvSpPr>
          <p:cNvPr id="9" name="Rounded Rectangle 8"/>
          <p:cNvSpPr/>
          <p:nvPr/>
        </p:nvSpPr>
        <p:spPr>
          <a:xfrm>
            <a:off x="6255000" y="1300000"/>
            <a:ext cx="1525000" cy="1250000"/>
          </a:xfrm>
          <a:prstGeom prst="roundRect">
            <a:avLst>
              <a:gd name="adj" fmla="val 9000"/>
            </a:avLst>
          </a:prstGeom>
          <a:solidFill>
            <a:srgbClr val="EAF3FB"/>
          </a:solidFill>
          <a:ln>
            <a:no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100000" bIns="70000"/>
          <a:lstStyle/>
          <a:p>
            <a:pPr algn="ctr">
              <a:spcAft>
                <a:spcPts val="300"/>
              </a:spcAft>
              <a:buNone/>
            </a:pPr>
            <a:r>
              <a:rPr sz="1300" b="1" i="0">
                <a:solidFill>
                  <a:srgbClr val="C00000"/>
                </a:solidFill>
                <a:latin typeface="Bookman Old Style" panose="02050604050505020204"/>
                <a:ea typeface="Bookman Old Style" panose="02050604050505020204"/>
                <a:cs typeface="Bookman Old Style" panose="02050604050505020204"/>
              </a:rPr>
              <a:t>Service Layer</a:t>
            </a:r>
          </a:p>
          <a:p>
            <a:pPr algn="ctr">
              <a:spcAft>
                <a:spcPts val="300"/>
              </a:spcAft>
              <a:buNone/>
            </a:pPr>
            <a:r>
              <a:rPr sz="1100" b="0" i="0">
                <a:solidFill>
                  <a:srgbClr val="262626"/>
                </a:solidFill>
                <a:latin typeface="Bookman Old Style" panose="02050604050505020204"/>
                <a:ea typeface="Bookman Old Style" panose="02050604050505020204"/>
                <a:cs typeface="Bookman Old Style" panose="02050604050505020204"/>
              </a:rPr>
              <a:t>Transactions + AOP</a:t>
            </a:r>
          </a:p>
        </p:txBody>
      </p:sp>
      <p:sp>
        <p:nvSpPr>
          <p:cNvPr id="10" name="TextBox 9"/>
          <p:cNvSpPr txBox="1"/>
          <p:nvPr/>
        </p:nvSpPr>
        <p:spPr>
          <a:xfrm>
            <a:off x="7785000" y="1757360"/>
            <a:ext cx="250000" cy="335280"/>
          </a:xfrm>
          <a:prstGeom prst="rect">
            <a:avLst/>
          </a:prstGeom>
          <a:noFill/>
        </p:spPr>
        <p:txBody>
          <a:bodyPr wrap="none" anchor="ctr" lIns="0" rIns="0">
            <a:spAutoFit/>
          </a:bodyPr>
          <a:lstStyle/>
          <a:p>
            <a:pPr algn="ctr"/>
            <a:r>
              <a:rPr sz="2000" b="1" i="0">
                <a:solidFill>
                  <a:srgbClr val="0070C0"/>
                </a:solidFill>
                <a:latin typeface="Bookman Old Style" panose="02050604050505020204"/>
                <a:ea typeface="Bookman Old Style" panose="02050604050505020204"/>
                <a:cs typeface="Bookman Old Style" panose="02050604050505020204"/>
              </a:rPr>
              <a:t>→</a:t>
            </a:r>
          </a:p>
        </p:txBody>
      </p:sp>
      <p:sp>
        <p:nvSpPr>
          <p:cNvPr id="11" name="Rounded Rectangle 10"/>
          <p:cNvSpPr/>
          <p:nvPr/>
        </p:nvSpPr>
        <p:spPr>
          <a:xfrm>
            <a:off x="8040000" y="1300000"/>
            <a:ext cx="1525000" cy="1250000"/>
          </a:xfrm>
          <a:prstGeom prst="roundRect">
            <a:avLst>
              <a:gd name="adj" fmla="val 9000"/>
            </a:avLst>
          </a:prstGeom>
          <a:solidFill>
            <a:srgbClr val="EAF3FB"/>
          </a:solidFill>
          <a:ln>
            <a:no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100000" bIns="70000"/>
          <a:lstStyle/>
          <a:p>
            <a:pPr algn="ctr">
              <a:spcAft>
                <a:spcPts val="300"/>
              </a:spcAft>
              <a:buNone/>
            </a:pPr>
            <a:r>
              <a:rPr sz="1300" b="1" i="0">
                <a:solidFill>
                  <a:srgbClr val="C00000"/>
                </a:solidFill>
                <a:latin typeface="Bookman Old Style" panose="02050604050505020204"/>
                <a:ea typeface="Bookman Old Style" panose="02050604050505020204"/>
                <a:cs typeface="Bookman Old Style" panose="02050604050505020204"/>
              </a:rPr>
              <a:t>JPA / JDBC</a:t>
            </a:r>
          </a:p>
          <a:p>
            <a:pPr algn="ctr">
              <a:spcAft>
                <a:spcPts val="300"/>
              </a:spcAft>
              <a:buNone/>
            </a:pPr>
            <a:r>
              <a:rPr sz="1100" b="0" i="0">
                <a:solidFill>
                  <a:srgbClr val="262626"/>
                </a:solidFill>
                <a:latin typeface="Bookman Old Style" panose="02050604050505020204"/>
                <a:ea typeface="Bookman Old Style" panose="02050604050505020204"/>
                <a:cs typeface="Bookman Old Style" panose="02050604050505020204"/>
              </a:rPr>
              <a:t>Hibernate · JdbcTemplate</a:t>
            </a:r>
          </a:p>
        </p:txBody>
      </p:sp>
      <p:sp>
        <p:nvSpPr>
          <p:cNvPr id="12" name="TextBox 11"/>
          <p:cNvSpPr txBox="1"/>
          <p:nvPr/>
        </p:nvSpPr>
        <p:spPr>
          <a:xfrm>
            <a:off x="9570000" y="1757360"/>
            <a:ext cx="250000" cy="335280"/>
          </a:xfrm>
          <a:prstGeom prst="rect">
            <a:avLst/>
          </a:prstGeom>
          <a:noFill/>
        </p:spPr>
        <p:txBody>
          <a:bodyPr wrap="none" anchor="ctr" lIns="0" rIns="0">
            <a:spAutoFit/>
          </a:bodyPr>
          <a:lstStyle/>
          <a:p>
            <a:pPr algn="ctr"/>
            <a:r>
              <a:rPr sz="2000" b="1" i="0">
                <a:solidFill>
                  <a:srgbClr val="0070C0"/>
                </a:solidFill>
                <a:latin typeface="Bookman Old Style" panose="02050604050505020204"/>
                <a:ea typeface="Bookman Old Style" panose="02050604050505020204"/>
                <a:cs typeface="Bookman Old Style" panose="02050604050505020204"/>
              </a:rPr>
              <a:t>→</a:t>
            </a:r>
          </a:p>
        </p:txBody>
      </p:sp>
      <p:sp>
        <p:nvSpPr>
          <p:cNvPr id="13" name="Rounded Rectangle 12"/>
          <p:cNvSpPr/>
          <p:nvPr/>
        </p:nvSpPr>
        <p:spPr>
          <a:xfrm>
            <a:off x="9825000" y="1300000"/>
            <a:ext cx="1525000" cy="1250000"/>
          </a:xfrm>
          <a:prstGeom prst="roundRect">
            <a:avLst>
              <a:gd name="adj" fmla="val 9000"/>
            </a:avLst>
          </a:prstGeom>
          <a:solidFill>
            <a:srgbClr val="EAF3FB"/>
          </a:solidFill>
          <a:ln>
            <a:no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100000" bIns="70000"/>
          <a:lstStyle/>
          <a:p>
            <a:pPr algn="ctr">
              <a:spcAft>
                <a:spcPts val="300"/>
              </a:spcAft>
              <a:buNone/>
            </a:pPr>
            <a:r>
              <a:rPr sz="1300" b="1" i="0">
                <a:solidFill>
                  <a:srgbClr val="C00000"/>
                </a:solidFill>
                <a:latin typeface="Bookman Old Style" panose="02050604050505020204"/>
                <a:ea typeface="Bookman Old Style" panose="02050604050505020204"/>
                <a:cs typeface="Bookman Old Style" panose="02050604050505020204"/>
              </a:rPr>
              <a:t>Database</a:t>
            </a:r>
          </a:p>
          <a:p>
            <a:pPr algn="ctr">
              <a:spcAft>
                <a:spcPts val="300"/>
              </a:spcAft>
              <a:buNone/>
            </a:pPr>
            <a:r>
              <a:rPr sz="1100" b="0" i="0">
                <a:solidFill>
                  <a:srgbClr val="262626"/>
                </a:solidFill>
                <a:latin typeface="Bookman Old Style" panose="02050604050505020204"/>
                <a:ea typeface="Bookman Old Style" panose="02050604050505020204"/>
                <a:cs typeface="Bookman Old Style" panose="02050604050505020204"/>
              </a:rPr>
              <a:t>H2 / MySQL 8</a:t>
            </a:r>
          </a:p>
        </p:txBody>
      </p:sp>
      <p:sp>
        <p:nvSpPr>
          <p:cNvPr id="14" name="Rounded Rectangle 13"/>
          <p:cNvSpPr/>
          <p:nvPr/>
        </p:nvSpPr>
        <p:spPr>
          <a:xfrm>
            <a:off x="900000" y="2800000"/>
            <a:ext cx="5100000" cy="2300000"/>
          </a:xfrm>
          <a:prstGeom prst="roundRect">
            <a:avLst>
              <a:gd name="adj" fmla="val 6000"/>
            </a:avLst>
          </a:prstGeom>
          <a:solidFill>
            <a:srgbClr val="EAF3FB"/>
          </a:solidFill>
          <a:ln>
            <a:noFill/>
          </a:ln>
        </p:spPr>
        <p:style>
          <a:lnRef idx="1">
            <a:schemeClr val="accent1"/>
          </a:lnRef>
          <a:fillRef idx="3">
            <a:schemeClr val="accent1"/>
          </a:fillRef>
          <a:effectRef idx="2">
            <a:schemeClr val="accent1"/>
          </a:effectRef>
          <a:fontRef idx="minor">
            <a:schemeClr val="lt1"/>
          </a:fontRef>
        </p:style>
        <p:txBody>
          <a:bodyPr rtlCol="0" anchor="t" wrap="square" lIns="140000" rIns="140000" tIns="100000" bIns="70000"/>
          <a:lstStyle/>
          <a:p>
            <a:pPr algn="l">
              <a:spcAft>
                <a:spcPts val="300"/>
              </a:spcAft>
              <a:buNone/>
            </a:pPr>
            <a:r>
              <a:rPr sz="1600" b="1" i="0">
                <a:solidFill>
                  <a:srgbClr val="C00000"/>
                </a:solidFill>
                <a:latin typeface="Bookman Old Style" panose="02050604050505020204"/>
                <a:ea typeface="Bookman Old Style" panose="02050604050505020204"/>
                <a:cs typeface="Bookman Old Style" panose="02050604050505020204"/>
              </a:rPr>
              <a:t>REST Request Flow</a:t>
            </a:r>
          </a:p>
          <a:p>
            <a:pPr algn="l" marL="190000" indent="-190000">
              <a:spcAft>
                <a:spcPts val="300"/>
              </a:spcAft>
              <a:buFont typeface="Arial"/>
              <a:buChar char="•"/>
            </a:pPr>
            <a:r>
              <a:rPr sz="1400" b="0" i="0">
                <a:solidFill>
                  <a:srgbClr val="262626"/>
                </a:solidFill>
                <a:latin typeface="Bookman Old Style" panose="02050604050505020204"/>
                <a:ea typeface="Bookman Old Style" panose="02050604050505020204"/>
                <a:cs typeface="Bookman Old Style" panose="02050604050505020204"/>
              </a:rPr>
              <a:t>Client sends Authorization: Bearer &lt;token&gt;</a:t>
            </a:r>
          </a:p>
          <a:p>
            <a:pPr algn="l" marL="190000" indent="-190000">
              <a:spcAft>
                <a:spcPts val="300"/>
              </a:spcAft>
              <a:buFont typeface="Arial"/>
              <a:buChar char="•"/>
            </a:pPr>
            <a:r>
              <a:rPr sz="1400" b="0" i="0">
                <a:solidFill>
                  <a:srgbClr val="262626"/>
                </a:solidFill>
                <a:latin typeface="Bookman Old Style" panose="02050604050505020204"/>
                <a:ea typeface="Bookman Old Style" panose="02050604050505020204"/>
                <a:cs typeface="Bookman Old Style" panose="02050604050505020204"/>
              </a:rPr>
              <a:t>TokenAuthenticationFilter validates the token</a:t>
            </a:r>
          </a:p>
          <a:p>
            <a:pPr algn="l" marL="190000" indent="-190000">
              <a:spcAft>
                <a:spcPts val="300"/>
              </a:spcAft>
              <a:buFont typeface="Arial"/>
              <a:buChar char="•"/>
            </a:pPr>
            <a:r>
              <a:rPr sz="1400" b="0" i="0">
                <a:solidFill>
                  <a:srgbClr val="262626"/>
                </a:solidFill>
                <a:latin typeface="Bookman Old Style" panose="02050604050505020204"/>
                <a:ea typeface="Bookman Old Style" panose="02050604050505020204"/>
                <a:cs typeface="Bookman Old Style" panose="02050604050505020204"/>
              </a:rPr>
              <a:t>@RestController (Auth, User, Squad, Friend)</a:t>
            </a:r>
          </a:p>
          <a:p>
            <a:pPr algn="l" marL="190000" indent="-190000">
              <a:spcAft>
                <a:spcPts val="300"/>
              </a:spcAft>
              <a:buFont typeface="Arial"/>
              <a:buChar char="•"/>
            </a:pPr>
            <a:r>
              <a:rPr sz="1400" b="0" i="0">
                <a:solidFill>
                  <a:srgbClr val="262626"/>
                </a:solidFill>
                <a:latin typeface="Bookman Old Style" panose="02050604050505020204"/>
                <a:ea typeface="Bookman Old Style" panose="02050604050505020204"/>
                <a:cs typeface="Bookman Old Style" panose="02050604050505020204"/>
              </a:rPr>
              <a:t>@Service layer: transactional logic and AOP</a:t>
            </a:r>
          </a:p>
          <a:p>
            <a:pPr algn="l" marL="190000" indent="-190000">
              <a:spcAft>
                <a:spcPts val="300"/>
              </a:spcAft>
              <a:buFont typeface="Arial"/>
              <a:buChar char="•"/>
            </a:pPr>
            <a:r>
              <a:rPr sz="1400" b="0" i="0">
                <a:solidFill>
                  <a:srgbClr val="262626"/>
                </a:solidFill>
                <a:latin typeface="Bookman Old Style" panose="02050604050505020204"/>
                <a:ea typeface="Bookman Old Style" panose="02050604050505020204"/>
                <a:cs typeface="Bookman Old Style" panose="02050604050505020204"/>
              </a:rPr>
              <a:t>Spring Data JPA (Hibernate) or JdbcTemplate (PlatformStatsDao) reads/writes the database</a:t>
            </a:r>
          </a:p>
        </p:txBody>
      </p:sp>
      <p:sp>
        <p:nvSpPr>
          <p:cNvPr id="15" name="Rounded Rectangle 14"/>
          <p:cNvSpPr/>
          <p:nvPr/>
        </p:nvSpPr>
        <p:spPr>
          <a:xfrm>
            <a:off x="6250000" y="2800000"/>
            <a:ext cx="5100000" cy="2300000"/>
          </a:xfrm>
          <a:prstGeom prst="roundRect">
            <a:avLst>
              <a:gd name="adj" fmla="val 6000"/>
            </a:avLst>
          </a:prstGeom>
          <a:solidFill>
            <a:srgbClr val="EAF3FB"/>
          </a:solidFill>
          <a:ln>
            <a:noFill/>
          </a:ln>
        </p:spPr>
        <p:style>
          <a:lnRef idx="1">
            <a:schemeClr val="accent1"/>
          </a:lnRef>
          <a:fillRef idx="3">
            <a:schemeClr val="accent1"/>
          </a:fillRef>
          <a:effectRef idx="2">
            <a:schemeClr val="accent1"/>
          </a:effectRef>
          <a:fontRef idx="minor">
            <a:schemeClr val="lt1"/>
          </a:fontRef>
        </p:style>
        <p:txBody>
          <a:bodyPr rtlCol="0" anchor="t" wrap="square" lIns="140000" rIns="140000" tIns="100000" bIns="70000"/>
          <a:lstStyle/>
          <a:p>
            <a:pPr algn="l">
              <a:spcAft>
                <a:spcPts val="300"/>
              </a:spcAft>
              <a:buNone/>
            </a:pPr>
            <a:r>
              <a:rPr sz="1600" b="1" i="0">
                <a:solidFill>
                  <a:srgbClr val="C00000"/>
                </a:solidFill>
                <a:latin typeface="Bookman Old Style" panose="02050604050505020204"/>
                <a:ea typeface="Bookman Old Style" panose="02050604050505020204"/>
                <a:cs typeface="Bookman Old Style" panose="02050604050505020204"/>
              </a:rPr>
              <a:t>Other Entry Points</a:t>
            </a:r>
          </a:p>
          <a:p>
            <a:pPr algn="l" marL="190000" indent="-190000">
              <a:spcAft>
                <a:spcPts val="300"/>
              </a:spcAft>
              <a:buFont typeface="Arial"/>
              <a:buChar char="•"/>
            </a:pPr>
            <a:r>
              <a:rPr sz="1400" b="1" i="0">
                <a:solidFill>
                  <a:srgbClr val="262626"/>
                </a:solidFill>
                <a:latin typeface="Bookman Old Style" panose="02050604050505020204"/>
                <a:ea typeface="Bookman Old Style" panose="02050604050505020204"/>
                <a:cs typeface="Bookman Old Style" panose="02050604050505020204"/>
              </a:rPr>
              <a:t>WebSocket / STOMP:</a:t>
            </a:r>
            <a:r>
              <a:rPr sz="1400" b="0" i="0">
                <a:solidFill>
                  <a:srgbClr val="262626"/>
                </a:solidFill>
                <a:latin typeface="Bookman Old Style" panose="02050604050505020204"/>
                <a:ea typeface="Bookman Old Style" panose="02050604050505020204"/>
                <a:cs typeface="Bookman Old Style" panose="02050604050505020204"/>
              </a:rPr>
              <a:t> /ws connection to the WebSocket Controller for chat and live notifications</a:t>
            </a:r>
          </a:p>
          <a:p>
            <a:pPr algn="l" marL="190000" indent="-190000">
              <a:spcAft>
                <a:spcPts val="300"/>
              </a:spcAft>
              <a:buFont typeface="Arial"/>
              <a:buChar char="•"/>
            </a:pPr>
            <a:r>
              <a:rPr sz="1400" b="1" i="0">
                <a:solidFill>
                  <a:srgbClr val="262626"/>
                </a:solidFill>
                <a:latin typeface="Bookman Old Style" panose="02050604050505020204"/>
                <a:ea typeface="Bookman Old Style" panose="02050604050505020204"/>
                <a:cs typeface="Bookman Old Style" panose="02050604050505020204"/>
              </a:rPr>
              <a:t>SOAP:</a:t>
            </a:r>
            <a:r>
              <a:rPr sz="1400" b="0" i="0">
                <a:solidFill>
                  <a:srgbClr val="262626"/>
                </a:solidFill>
                <a:latin typeface="Bookman Old Style" panose="02050604050505020204"/>
                <a:ea typeface="Bookman Old Style" panose="02050604050505020204"/>
                <a:cs typeface="Bookman Old Style" panose="02050604050505020204"/>
              </a:rPr>
              <a:t> client XML request to MessageDispatcherServlet, WSDL at /soap/players.wsdl</a:t>
            </a:r>
          </a:p>
        </p:txBody>
      </p:sp>
      <p:sp>
        <p:nvSpPr>
          <p:cNvPr id="16" name="TextBox 15"/>
          <p:cNvSpPr txBox="1"/>
          <p:nvPr/>
        </p:nvSpPr>
        <p:spPr>
          <a:xfrm>
            <a:off x="900000" y="5250000"/>
            <a:ext cx="10450000" cy="548640"/>
          </a:xfrm>
          <a:prstGeom prst="rect">
            <a:avLst/>
          </a:prstGeom>
          <a:noFill/>
        </p:spPr>
        <p:txBody>
          <a:bodyPr wrap="square" anchor="ctr">
            <a:spAutoFit/>
          </a:bodyPr>
          <a:lstStyle/>
          <a:p>
            <a:pPr algn="l">
              <a:spcAft>
                <a:spcPts val="300"/>
              </a:spcAft>
              <a:buNone/>
            </a:pPr>
            <a:r>
              <a:rPr sz="1400" b="1" i="0">
                <a:solidFill>
                  <a:srgbClr val="0070C0"/>
                </a:solidFill>
                <a:latin typeface="Bookman Old Style" panose="02050604050505020204"/>
                <a:ea typeface="Bookman Old Style" panose="02050604050505020204"/>
                <a:cs typeface="Bookman Old Style" panose="02050604050505020204"/>
              </a:rPr>
              <a:t>Three entry points (REST, SOAP, WebSocket) share one service layer and one database.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00000" y="280000"/>
            <a:ext cx="9200000" cy="518160"/>
          </a:xfrm>
          <a:prstGeom prst="rect">
            <a:avLst/>
          </a:prstGeom>
          <a:noFill/>
        </p:spPr>
        <p:txBody>
          <a:bodyPr wrap="square" anchor="ctr">
            <a:spAutoFit/>
          </a:bodyPr>
          <a:lstStyle/>
          <a:p>
            <a:pPr algn="ctr"/>
            <a:r>
              <a:rPr sz="2800" b="1" i="0">
                <a:solidFill>
                  <a:srgbClr val="0070C0"/>
                </a:solidFill>
                <a:latin typeface="Bookman Old Style" panose="02050604050505020204"/>
                <a:ea typeface="Bookman Old Style" panose="02050604050505020204"/>
                <a:cs typeface="Bookman Old Style" panose="02050604050505020204"/>
              </a:rPr>
              <a:t>Technology Stack Matrix</a:t>
            </a:r>
          </a:p>
        </p:txBody>
      </p:sp>
      <p:sp>
        <p:nvSpPr>
          <p:cNvPr id="3" name="Rounded Rectangle 2"/>
          <p:cNvSpPr/>
          <p:nvPr/>
        </p:nvSpPr>
        <p:spPr>
          <a:xfrm>
            <a:off x="900000" y="1350000"/>
            <a:ext cx="2450000" cy="1100000"/>
          </a:xfrm>
          <a:prstGeom prst="roundRect">
            <a:avLst>
              <a:gd name="adj" fmla="val 10000"/>
            </a:avLst>
          </a:prstGeom>
          <a:solidFill>
            <a:srgbClr val="EAF3FB"/>
          </a:solidFill>
          <a:ln>
            <a:noFill/>
          </a:ln>
        </p:spPr>
        <p:style>
          <a:lnRef idx="1">
            <a:schemeClr val="accent1"/>
          </a:lnRef>
          <a:fillRef idx="3">
            <a:schemeClr val="accent1"/>
          </a:fillRef>
          <a:effectRef idx="2">
            <a:schemeClr val="accent1"/>
          </a:effectRef>
          <a:fontRef idx="minor">
            <a:schemeClr val="lt1"/>
          </a:fontRef>
        </p:style>
        <p:txBody>
          <a:bodyPr rtlCol="0" anchor="t" wrap="square" lIns="140000" rIns="140000" tIns="100000" bIns="70000"/>
          <a:lstStyle/>
          <a:p>
            <a:pPr algn="l">
              <a:spcAft>
                <a:spcPts val="300"/>
              </a:spcAft>
              <a:buNone/>
            </a:pPr>
            <a:r>
              <a:rPr sz="1400" b="1" i="0">
                <a:solidFill>
                  <a:srgbClr val="C00000"/>
                </a:solidFill>
                <a:latin typeface="Bookman Old Style" panose="02050604050505020204"/>
                <a:ea typeface="Bookman Old Style" panose="02050604050505020204"/>
                <a:cs typeface="Bookman Old Style" panose="02050604050505020204"/>
              </a:rPr>
              <a:t>Runtime &amp; Language</a:t>
            </a:r>
          </a:p>
          <a:p>
            <a:pPr algn="l">
              <a:spcAft>
                <a:spcPts val="300"/>
              </a:spcAft>
              <a:buNone/>
            </a:pPr>
            <a:r>
              <a:rPr sz="1200" b="0" i="0">
                <a:solidFill>
                  <a:srgbClr val="262626"/>
                </a:solidFill>
                <a:latin typeface="Bookman Old Style" panose="02050604050505020204"/>
                <a:ea typeface="Bookman Old Style" panose="02050604050505020204"/>
                <a:cs typeface="Bookman Old Style" panose="02050604050505020204"/>
              </a:rPr>
              <a:t>Java 17+ (tested on JDK 25), JVM</a:t>
            </a:r>
          </a:p>
        </p:txBody>
      </p:sp>
      <p:sp>
        <p:nvSpPr>
          <p:cNvPr id="4" name="Rounded Rectangle 3"/>
          <p:cNvSpPr/>
          <p:nvPr/>
        </p:nvSpPr>
        <p:spPr>
          <a:xfrm>
            <a:off x="3566000" y="1350000"/>
            <a:ext cx="2450000" cy="1100000"/>
          </a:xfrm>
          <a:prstGeom prst="roundRect">
            <a:avLst>
              <a:gd name="adj" fmla="val 10000"/>
            </a:avLst>
          </a:prstGeom>
          <a:solidFill>
            <a:srgbClr val="EAF3FB"/>
          </a:solidFill>
          <a:ln>
            <a:noFill/>
          </a:ln>
        </p:spPr>
        <p:style>
          <a:lnRef idx="1">
            <a:schemeClr val="accent1"/>
          </a:lnRef>
          <a:fillRef idx="3">
            <a:schemeClr val="accent1"/>
          </a:fillRef>
          <a:effectRef idx="2">
            <a:schemeClr val="accent1"/>
          </a:effectRef>
          <a:fontRef idx="minor">
            <a:schemeClr val="lt1"/>
          </a:fontRef>
        </p:style>
        <p:txBody>
          <a:bodyPr rtlCol="0" anchor="t" wrap="square" lIns="140000" rIns="140000" tIns="100000" bIns="70000"/>
          <a:lstStyle/>
          <a:p>
            <a:pPr algn="l">
              <a:spcAft>
                <a:spcPts val="300"/>
              </a:spcAft>
              <a:buNone/>
            </a:pPr>
            <a:r>
              <a:rPr sz="1400" b="1" i="0">
                <a:solidFill>
                  <a:srgbClr val="C00000"/>
                </a:solidFill>
                <a:latin typeface="Bookman Old Style" panose="02050604050505020204"/>
                <a:ea typeface="Bookman Old Style" panose="02050604050505020204"/>
                <a:cs typeface="Bookman Old Style" panose="02050604050505020204"/>
              </a:rPr>
              <a:t>Core Framework</a:t>
            </a:r>
          </a:p>
          <a:p>
            <a:pPr algn="l">
              <a:spcAft>
                <a:spcPts val="300"/>
              </a:spcAft>
              <a:buNone/>
            </a:pPr>
            <a:r>
              <a:rPr sz="1200" b="0" i="0">
                <a:solidFill>
                  <a:srgbClr val="262626"/>
                </a:solidFill>
                <a:latin typeface="Bookman Old Style" panose="02050604050505020204"/>
                <a:ea typeface="Bookman Old Style" panose="02050604050505020204"/>
                <a:cs typeface="Bookman Old Style" panose="02050604050505020204"/>
              </a:rPr>
              <a:t>Spring Boot 3.5.x, Spring Framework 6.x</a:t>
            </a:r>
          </a:p>
        </p:txBody>
      </p:sp>
      <p:sp>
        <p:nvSpPr>
          <p:cNvPr id="5" name="Rounded Rectangle 4"/>
          <p:cNvSpPr/>
          <p:nvPr/>
        </p:nvSpPr>
        <p:spPr>
          <a:xfrm>
            <a:off x="6232000" y="1350000"/>
            <a:ext cx="2450000" cy="1100000"/>
          </a:xfrm>
          <a:prstGeom prst="roundRect">
            <a:avLst>
              <a:gd name="adj" fmla="val 10000"/>
            </a:avLst>
          </a:prstGeom>
          <a:solidFill>
            <a:srgbClr val="EAF3FB"/>
          </a:solidFill>
          <a:ln>
            <a:noFill/>
          </a:ln>
        </p:spPr>
        <p:style>
          <a:lnRef idx="1">
            <a:schemeClr val="accent1"/>
          </a:lnRef>
          <a:fillRef idx="3">
            <a:schemeClr val="accent1"/>
          </a:fillRef>
          <a:effectRef idx="2">
            <a:schemeClr val="accent1"/>
          </a:effectRef>
          <a:fontRef idx="minor">
            <a:schemeClr val="lt1"/>
          </a:fontRef>
        </p:style>
        <p:txBody>
          <a:bodyPr rtlCol="0" anchor="t" wrap="square" lIns="140000" rIns="140000" tIns="100000" bIns="70000"/>
          <a:lstStyle/>
          <a:p>
            <a:pPr algn="l">
              <a:spcAft>
                <a:spcPts val="300"/>
              </a:spcAft>
              <a:buNone/>
            </a:pPr>
            <a:r>
              <a:rPr sz="1400" b="1" i="0">
                <a:solidFill>
                  <a:srgbClr val="C00000"/>
                </a:solidFill>
                <a:latin typeface="Bookman Old Style" panose="02050604050505020204"/>
                <a:ea typeface="Bookman Old Style" panose="02050604050505020204"/>
                <a:cs typeface="Bookman Old Style" panose="02050604050505020204"/>
              </a:rPr>
              <a:t>IoC &amp; Container</a:t>
            </a:r>
          </a:p>
          <a:p>
            <a:pPr algn="l">
              <a:spcAft>
                <a:spcPts val="300"/>
              </a:spcAft>
              <a:buNone/>
            </a:pPr>
            <a:r>
              <a:rPr sz="1200" b="0" i="0">
                <a:solidFill>
                  <a:srgbClr val="262626"/>
                </a:solidFill>
                <a:latin typeface="Bookman Old Style" panose="02050604050505020204"/>
                <a:ea typeface="Bookman Old Style" panose="02050604050505020204"/>
                <a:cs typeface="Bookman Old Style" panose="02050604050505020204"/>
              </a:rPr>
              <a:t>Spring IoC, AppConfig, Singleton / Prototype / Request scopes</a:t>
            </a:r>
          </a:p>
        </p:txBody>
      </p:sp>
      <p:sp>
        <p:nvSpPr>
          <p:cNvPr id="6" name="Rounded Rectangle 5"/>
          <p:cNvSpPr/>
          <p:nvPr/>
        </p:nvSpPr>
        <p:spPr>
          <a:xfrm>
            <a:off x="8898000" y="1350000"/>
            <a:ext cx="2450000" cy="1100000"/>
          </a:xfrm>
          <a:prstGeom prst="roundRect">
            <a:avLst>
              <a:gd name="adj" fmla="val 10000"/>
            </a:avLst>
          </a:prstGeom>
          <a:solidFill>
            <a:srgbClr val="EAF3FB"/>
          </a:solidFill>
          <a:ln>
            <a:noFill/>
          </a:ln>
        </p:spPr>
        <p:style>
          <a:lnRef idx="1">
            <a:schemeClr val="accent1"/>
          </a:lnRef>
          <a:fillRef idx="3">
            <a:schemeClr val="accent1"/>
          </a:fillRef>
          <a:effectRef idx="2">
            <a:schemeClr val="accent1"/>
          </a:effectRef>
          <a:fontRef idx="minor">
            <a:schemeClr val="lt1"/>
          </a:fontRef>
        </p:style>
        <p:txBody>
          <a:bodyPr rtlCol="0" anchor="t" wrap="square" lIns="140000" rIns="140000" tIns="100000" bIns="70000"/>
          <a:lstStyle/>
          <a:p>
            <a:pPr algn="l">
              <a:spcAft>
                <a:spcPts val="300"/>
              </a:spcAft>
              <a:buNone/>
            </a:pPr>
            <a:r>
              <a:rPr sz="1400" b="1" i="0">
                <a:solidFill>
                  <a:srgbClr val="C00000"/>
                </a:solidFill>
                <a:latin typeface="Bookman Old Style" panose="02050604050505020204"/>
                <a:ea typeface="Bookman Old Style" panose="02050604050505020204"/>
                <a:cs typeface="Bookman Old Style" panose="02050604050505020204"/>
              </a:rPr>
              <a:t>Persistence &amp; ORM</a:t>
            </a:r>
          </a:p>
          <a:p>
            <a:pPr algn="l">
              <a:spcAft>
                <a:spcPts val="300"/>
              </a:spcAft>
              <a:buNone/>
            </a:pPr>
            <a:r>
              <a:rPr sz="1200" b="0" i="0">
                <a:solidFill>
                  <a:srgbClr val="262626"/>
                </a:solidFill>
                <a:latin typeface="Bookman Old Style" panose="02050604050505020204"/>
                <a:ea typeface="Bookman Old Style" panose="02050604050505020204"/>
                <a:cs typeface="Bookman Old Style" panose="02050604050505020204"/>
              </a:rPr>
              <a:t>Spring Data JPA, Hibernate, Criteria API, JdbcTemplate, H2, MySQL 8</a:t>
            </a:r>
          </a:p>
        </p:txBody>
      </p:sp>
      <p:sp>
        <p:nvSpPr>
          <p:cNvPr id="7" name="Rounded Rectangle 6"/>
          <p:cNvSpPr/>
          <p:nvPr/>
        </p:nvSpPr>
        <p:spPr>
          <a:xfrm>
            <a:off x="900000" y="2580000"/>
            <a:ext cx="2450000" cy="1100000"/>
          </a:xfrm>
          <a:prstGeom prst="roundRect">
            <a:avLst>
              <a:gd name="adj" fmla="val 10000"/>
            </a:avLst>
          </a:prstGeom>
          <a:solidFill>
            <a:srgbClr val="EAF3FB"/>
          </a:solidFill>
          <a:ln>
            <a:noFill/>
          </a:ln>
        </p:spPr>
        <p:style>
          <a:lnRef idx="1">
            <a:schemeClr val="accent1"/>
          </a:lnRef>
          <a:fillRef idx="3">
            <a:schemeClr val="accent1"/>
          </a:fillRef>
          <a:effectRef idx="2">
            <a:schemeClr val="accent1"/>
          </a:effectRef>
          <a:fontRef idx="minor">
            <a:schemeClr val="lt1"/>
          </a:fontRef>
        </p:style>
        <p:txBody>
          <a:bodyPr rtlCol="0" anchor="t" wrap="square" lIns="140000" rIns="140000" tIns="100000" bIns="70000"/>
          <a:lstStyle/>
          <a:p>
            <a:pPr algn="l">
              <a:spcAft>
                <a:spcPts val="300"/>
              </a:spcAft>
              <a:buNone/>
            </a:pPr>
            <a:r>
              <a:rPr sz="1400" b="1" i="0">
                <a:solidFill>
                  <a:srgbClr val="C00000"/>
                </a:solidFill>
                <a:latin typeface="Bookman Old Style" panose="02050604050505020204"/>
                <a:ea typeface="Bookman Old Style" panose="02050604050505020204"/>
                <a:cs typeface="Bookman Old Style" panose="02050604050505020204"/>
              </a:rPr>
              <a:t>Web &amp; APIs</a:t>
            </a:r>
          </a:p>
          <a:p>
            <a:pPr algn="l">
              <a:spcAft>
                <a:spcPts val="300"/>
              </a:spcAft>
              <a:buNone/>
            </a:pPr>
            <a:r>
              <a:rPr sz="1200" b="0" i="0">
                <a:solidFill>
                  <a:srgbClr val="262626"/>
                </a:solidFill>
                <a:latin typeface="Bookman Old Style" panose="02050604050505020204"/>
                <a:ea typeface="Bookman Old Style" panose="02050604050505020204"/>
                <a:cs typeface="Bookman Old Style" panose="02050604050505020204"/>
              </a:rPr>
              <a:t>Spring Web MVC, Spring WS (SOAP), JAXB, WSDL4J</a:t>
            </a:r>
          </a:p>
        </p:txBody>
      </p:sp>
      <p:sp>
        <p:nvSpPr>
          <p:cNvPr id="8" name="Rounded Rectangle 7"/>
          <p:cNvSpPr/>
          <p:nvPr/>
        </p:nvSpPr>
        <p:spPr>
          <a:xfrm>
            <a:off x="3566000" y="2580000"/>
            <a:ext cx="2450000" cy="1100000"/>
          </a:xfrm>
          <a:prstGeom prst="roundRect">
            <a:avLst>
              <a:gd name="adj" fmla="val 10000"/>
            </a:avLst>
          </a:prstGeom>
          <a:solidFill>
            <a:srgbClr val="EAF3FB"/>
          </a:solidFill>
          <a:ln>
            <a:noFill/>
          </a:ln>
        </p:spPr>
        <p:style>
          <a:lnRef idx="1">
            <a:schemeClr val="accent1"/>
          </a:lnRef>
          <a:fillRef idx="3">
            <a:schemeClr val="accent1"/>
          </a:fillRef>
          <a:effectRef idx="2">
            <a:schemeClr val="accent1"/>
          </a:effectRef>
          <a:fontRef idx="minor">
            <a:schemeClr val="lt1"/>
          </a:fontRef>
        </p:style>
        <p:txBody>
          <a:bodyPr rtlCol="0" anchor="t" wrap="square" lIns="140000" rIns="140000" tIns="100000" bIns="70000"/>
          <a:lstStyle/>
          <a:p>
            <a:pPr algn="l">
              <a:spcAft>
                <a:spcPts val="300"/>
              </a:spcAft>
              <a:buNone/>
            </a:pPr>
            <a:r>
              <a:rPr sz="1400" b="1" i="0">
                <a:solidFill>
                  <a:srgbClr val="C00000"/>
                </a:solidFill>
                <a:latin typeface="Bookman Old Style" panose="02050604050505020204"/>
                <a:ea typeface="Bookman Old Style" panose="02050604050505020204"/>
                <a:cs typeface="Bookman Old Style" panose="02050604050505020204"/>
              </a:rPr>
              <a:t>Real-Time</a:t>
            </a:r>
          </a:p>
          <a:p>
            <a:pPr algn="l">
              <a:spcAft>
                <a:spcPts val="300"/>
              </a:spcAft>
              <a:buNone/>
            </a:pPr>
            <a:r>
              <a:rPr sz="1200" b="0" i="0">
                <a:solidFill>
                  <a:srgbClr val="262626"/>
                </a:solidFill>
                <a:latin typeface="Bookman Old Style" panose="02050604050505020204"/>
                <a:ea typeface="Bookman Old Style" panose="02050604050505020204"/>
                <a:cs typeface="Bookman Old Style" panose="02050604050505020204"/>
              </a:rPr>
              <a:t>Spring WebSocket, STOMP, SockJS fallback</a:t>
            </a:r>
          </a:p>
        </p:txBody>
      </p:sp>
      <p:sp>
        <p:nvSpPr>
          <p:cNvPr id="9" name="Rounded Rectangle 8"/>
          <p:cNvSpPr/>
          <p:nvPr/>
        </p:nvSpPr>
        <p:spPr>
          <a:xfrm>
            <a:off x="6232000" y="2580000"/>
            <a:ext cx="2450000" cy="1100000"/>
          </a:xfrm>
          <a:prstGeom prst="roundRect">
            <a:avLst>
              <a:gd name="adj" fmla="val 10000"/>
            </a:avLst>
          </a:prstGeom>
          <a:solidFill>
            <a:srgbClr val="EAF3FB"/>
          </a:solidFill>
          <a:ln>
            <a:noFill/>
          </a:ln>
        </p:spPr>
        <p:style>
          <a:lnRef idx="1">
            <a:schemeClr val="accent1"/>
          </a:lnRef>
          <a:fillRef idx="3">
            <a:schemeClr val="accent1"/>
          </a:fillRef>
          <a:effectRef idx="2">
            <a:schemeClr val="accent1"/>
          </a:effectRef>
          <a:fontRef idx="minor">
            <a:schemeClr val="lt1"/>
          </a:fontRef>
        </p:style>
        <p:txBody>
          <a:bodyPr rtlCol="0" anchor="t" wrap="square" lIns="140000" rIns="140000" tIns="100000" bIns="70000"/>
          <a:lstStyle/>
          <a:p>
            <a:pPr algn="l">
              <a:spcAft>
                <a:spcPts val="300"/>
              </a:spcAft>
              <a:buNone/>
            </a:pPr>
            <a:r>
              <a:rPr sz="1400" b="1" i="0">
                <a:solidFill>
                  <a:srgbClr val="C00000"/>
                </a:solidFill>
                <a:latin typeface="Bookman Old Style" panose="02050604050505020204"/>
                <a:ea typeface="Bookman Old Style" panose="02050604050505020204"/>
                <a:cs typeface="Bookman Old Style" panose="02050604050505020204"/>
              </a:rPr>
              <a:t>Security &amp; Validation</a:t>
            </a:r>
          </a:p>
          <a:p>
            <a:pPr algn="l">
              <a:spcAft>
                <a:spcPts val="300"/>
              </a:spcAft>
              <a:buNone/>
            </a:pPr>
            <a:r>
              <a:rPr sz="1200" b="0" i="0">
                <a:solidFill>
                  <a:srgbClr val="262626"/>
                </a:solidFill>
                <a:latin typeface="Bookman Old Style" panose="02050604050505020204"/>
                <a:ea typeface="Bookman Old Style" panose="02050604050505020204"/>
                <a:cs typeface="Bookman Old Style" panose="02050604050505020204"/>
              </a:rPr>
              <a:t>Spring Security 6, Bearer JWT, Jakarta Bean Validation</a:t>
            </a:r>
          </a:p>
        </p:txBody>
      </p:sp>
      <p:sp>
        <p:nvSpPr>
          <p:cNvPr id="10" name="Rounded Rectangle 9"/>
          <p:cNvSpPr/>
          <p:nvPr/>
        </p:nvSpPr>
        <p:spPr>
          <a:xfrm>
            <a:off x="8898000" y="2580000"/>
            <a:ext cx="2450000" cy="1100000"/>
          </a:xfrm>
          <a:prstGeom prst="roundRect">
            <a:avLst>
              <a:gd name="adj" fmla="val 10000"/>
            </a:avLst>
          </a:prstGeom>
          <a:solidFill>
            <a:srgbClr val="EAF3FB"/>
          </a:solidFill>
          <a:ln>
            <a:noFill/>
          </a:ln>
        </p:spPr>
        <p:style>
          <a:lnRef idx="1">
            <a:schemeClr val="accent1"/>
          </a:lnRef>
          <a:fillRef idx="3">
            <a:schemeClr val="accent1"/>
          </a:fillRef>
          <a:effectRef idx="2">
            <a:schemeClr val="accent1"/>
          </a:effectRef>
          <a:fontRef idx="minor">
            <a:schemeClr val="lt1"/>
          </a:fontRef>
        </p:style>
        <p:txBody>
          <a:bodyPr rtlCol="0" anchor="t" wrap="square" lIns="140000" rIns="140000" tIns="100000" bIns="70000"/>
          <a:lstStyle/>
          <a:p>
            <a:pPr algn="l">
              <a:spcAft>
                <a:spcPts val="300"/>
              </a:spcAft>
              <a:buNone/>
            </a:pPr>
            <a:r>
              <a:rPr sz="1400" b="1" i="0">
                <a:solidFill>
                  <a:srgbClr val="C00000"/>
                </a:solidFill>
                <a:latin typeface="Bookman Old Style" panose="02050604050505020204"/>
                <a:ea typeface="Bookman Old Style" panose="02050604050505020204"/>
                <a:cs typeface="Bookman Old Style" panose="02050604050505020204"/>
              </a:rPr>
              <a:t>AOP</a:t>
            </a:r>
          </a:p>
          <a:p>
            <a:pPr algn="l">
              <a:spcAft>
                <a:spcPts val="300"/>
              </a:spcAft>
              <a:buNone/>
            </a:pPr>
            <a:r>
              <a:rPr sz="1200" b="0" i="0">
                <a:solidFill>
                  <a:srgbClr val="262626"/>
                </a:solidFill>
                <a:latin typeface="Bookman Old Style" panose="02050604050505020204"/>
                <a:ea typeface="Bookman Old Style" panose="02050604050505020204"/>
                <a:cs typeface="Bookman Old Style" panose="02050604050505020204"/>
              </a:rPr>
              <a:t>Spring AOP: @Aspect, @Before, @Around, @AfterReturning, @AfterThrowing</a:t>
            </a:r>
          </a:p>
        </p:txBody>
      </p:sp>
      <p:sp>
        <p:nvSpPr>
          <p:cNvPr id="11" name="Rounded Rectangle 10"/>
          <p:cNvSpPr/>
          <p:nvPr/>
        </p:nvSpPr>
        <p:spPr>
          <a:xfrm>
            <a:off x="900000" y="3810000"/>
            <a:ext cx="2450000" cy="1100000"/>
          </a:xfrm>
          <a:prstGeom prst="roundRect">
            <a:avLst>
              <a:gd name="adj" fmla="val 10000"/>
            </a:avLst>
          </a:prstGeom>
          <a:solidFill>
            <a:srgbClr val="EAF3FB"/>
          </a:solidFill>
          <a:ln>
            <a:noFill/>
          </a:ln>
        </p:spPr>
        <p:style>
          <a:lnRef idx="1">
            <a:schemeClr val="accent1"/>
          </a:lnRef>
          <a:fillRef idx="3">
            <a:schemeClr val="accent1"/>
          </a:fillRef>
          <a:effectRef idx="2">
            <a:schemeClr val="accent1"/>
          </a:effectRef>
          <a:fontRef idx="minor">
            <a:schemeClr val="lt1"/>
          </a:fontRef>
        </p:style>
        <p:txBody>
          <a:bodyPr rtlCol="0" anchor="t" wrap="square" lIns="140000" rIns="140000" tIns="100000" bIns="70000"/>
          <a:lstStyle/>
          <a:p>
            <a:pPr algn="l">
              <a:spcAft>
                <a:spcPts val="300"/>
              </a:spcAft>
              <a:buNone/>
            </a:pPr>
            <a:r>
              <a:rPr sz="1400" b="1" i="0">
                <a:solidFill>
                  <a:srgbClr val="C00000"/>
                </a:solidFill>
                <a:latin typeface="Bookman Old Style" panose="02050604050505020204"/>
                <a:ea typeface="Bookman Old Style" panose="02050604050505020204"/>
                <a:cs typeface="Bookman Old Style" panose="02050604050505020204"/>
              </a:rPr>
              <a:t>Logging</a:t>
            </a:r>
          </a:p>
          <a:p>
            <a:pPr algn="l">
              <a:spcAft>
                <a:spcPts val="300"/>
              </a:spcAft>
              <a:buNone/>
            </a:pPr>
            <a:r>
              <a:rPr sz="1200" b="0" i="0">
                <a:solidFill>
                  <a:srgbClr val="262626"/>
                </a:solidFill>
                <a:latin typeface="Bookman Old Style" panose="02050604050505020204"/>
                <a:ea typeface="Bookman Old Style" panose="02050604050505020204"/>
                <a:cs typeface="Bookman Old Style" panose="02050604050505020204"/>
              </a:rPr>
              <a:t>SLF4J + Logback (squadup.log, audit.log)</a:t>
            </a:r>
          </a:p>
        </p:txBody>
      </p:sp>
      <p:sp>
        <p:nvSpPr>
          <p:cNvPr id="12" name="Rounded Rectangle 11"/>
          <p:cNvSpPr/>
          <p:nvPr/>
        </p:nvSpPr>
        <p:spPr>
          <a:xfrm>
            <a:off x="3566000" y="3810000"/>
            <a:ext cx="2450000" cy="1100000"/>
          </a:xfrm>
          <a:prstGeom prst="roundRect">
            <a:avLst>
              <a:gd name="adj" fmla="val 10000"/>
            </a:avLst>
          </a:prstGeom>
          <a:solidFill>
            <a:srgbClr val="EAF3FB"/>
          </a:solidFill>
          <a:ln>
            <a:noFill/>
          </a:ln>
        </p:spPr>
        <p:style>
          <a:lnRef idx="1">
            <a:schemeClr val="accent1"/>
          </a:lnRef>
          <a:fillRef idx="3">
            <a:schemeClr val="accent1"/>
          </a:fillRef>
          <a:effectRef idx="2">
            <a:schemeClr val="accent1"/>
          </a:effectRef>
          <a:fontRef idx="minor">
            <a:schemeClr val="lt1"/>
          </a:fontRef>
        </p:style>
        <p:txBody>
          <a:bodyPr rtlCol="0" anchor="t" wrap="square" lIns="140000" rIns="140000" tIns="100000" bIns="70000"/>
          <a:lstStyle/>
          <a:p>
            <a:pPr algn="l">
              <a:spcAft>
                <a:spcPts val="300"/>
              </a:spcAft>
              <a:buNone/>
            </a:pPr>
            <a:r>
              <a:rPr sz="1400" b="1" i="0">
                <a:solidFill>
                  <a:srgbClr val="C00000"/>
                </a:solidFill>
                <a:latin typeface="Bookman Old Style" panose="02050604050505020204"/>
                <a:ea typeface="Bookman Old Style" panose="02050604050505020204"/>
                <a:cs typeface="Bookman Old Style" panose="02050604050505020204"/>
              </a:rPr>
              <a:t>Testing</a:t>
            </a:r>
          </a:p>
          <a:p>
            <a:pPr algn="l">
              <a:spcAft>
                <a:spcPts val="300"/>
              </a:spcAft>
              <a:buNone/>
            </a:pPr>
            <a:r>
              <a:rPr sz="1200" b="0" i="0">
                <a:solidFill>
                  <a:srgbClr val="262626"/>
                </a:solidFill>
                <a:latin typeface="Bookman Old Style" panose="02050604050505020204"/>
                <a:ea typeface="Bookman Old Style" panose="02050604050505020204"/>
                <a:cs typeface="Bookman Old Style" panose="02050604050505020204"/>
              </a:rPr>
              <a:t>JUnit 5, MockMvc, @DataJpaTest, RestTemplate client</a:t>
            </a:r>
          </a:p>
        </p:txBody>
      </p:sp>
      <p:sp>
        <p:nvSpPr>
          <p:cNvPr id="13" name="Rounded Rectangle 12"/>
          <p:cNvSpPr/>
          <p:nvPr/>
        </p:nvSpPr>
        <p:spPr>
          <a:xfrm>
            <a:off x="6232000" y="3810000"/>
            <a:ext cx="2450000" cy="1100000"/>
          </a:xfrm>
          <a:prstGeom prst="roundRect">
            <a:avLst>
              <a:gd name="adj" fmla="val 10000"/>
            </a:avLst>
          </a:prstGeom>
          <a:solidFill>
            <a:srgbClr val="EAF3FB"/>
          </a:solidFill>
          <a:ln>
            <a:noFill/>
          </a:ln>
        </p:spPr>
        <p:style>
          <a:lnRef idx="1">
            <a:schemeClr val="accent1"/>
          </a:lnRef>
          <a:fillRef idx="3">
            <a:schemeClr val="accent1"/>
          </a:fillRef>
          <a:effectRef idx="2">
            <a:schemeClr val="accent1"/>
          </a:effectRef>
          <a:fontRef idx="minor">
            <a:schemeClr val="lt1"/>
          </a:fontRef>
        </p:style>
        <p:txBody>
          <a:bodyPr rtlCol="0" anchor="t" wrap="square" lIns="140000" rIns="140000" tIns="100000" bIns="70000"/>
          <a:lstStyle/>
          <a:p>
            <a:pPr algn="l">
              <a:spcAft>
                <a:spcPts val="300"/>
              </a:spcAft>
              <a:buNone/>
            </a:pPr>
            <a:r>
              <a:rPr sz="1400" b="1" i="0">
                <a:solidFill>
                  <a:srgbClr val="C00000"/>
                </a:solidFill>
                <a:latin typeface="Bookman Old Style" panose="02050604050505020204"/>
                <a:ea typeface="Bookman Old Style" panose="02050604050505020204"/>
                <a:cs typeface="Bookman Old Style" panose="02050604050505020204"/>
              </a:rPr>
              <a:t>Build &amp; Tooling</a:t>
            </a:r>
          </a:p>
          <a:p>
            <a:pPr algn="l">
              <a:spcAft>
                <a:spcPts val="300"/>
              </a:spcAft>
              <a:buNone/>
            </a:pPr>
            <a:r>
              <a:rPr sz="1200" b="0" i="0">
                <a:solidFill>
                  <a:srgbClr val="262626"/>
                </a:solidFill>
                <a:latin typeface="Bookman Old Style" panose="02050604050505020204"/>
                <a:ea typeface="Bookman Old Style" panose="02050604050505020204"/>
                <a:cs typeface="Bookman Old Style" panose="02050604050505020204"/>
              </a:rPr>
              <a:t>Maven 3.9 Wrapper, PowerShell start.ps1</a:t>
            </a:r>
          </a:p>
        </p:txBody>
      </p:sp>
      <p:sp>
        <p:nvSpPr>
          <p:cNvPr id="14" name="Rounded Rectangle 13"/>
          <p:cNvSpPr/>
          <p:nvPr/>
        </p:nvSpPr>
        <p:spPr>
          <a:xfrm>
            <a:off x="8898000" y="3810000"/>
            <a:ext cx="2450000" cy="1100000"/>
          </a:xfrm>
          <a:prstGeom prst="roundRect">
            <a:avLst>
              <a:gd name="adj" fmla="val 10000"/>
            </a:avLst>
          </a:prstGeom>
          <a:solidFill>
            <a:srgbClr val="EAF3FB"/>
          </a:solidFill>
          <a:ln>
            <a:noFill/>
          </a:ln>
        </p:spPr>
        <p:style>
          <a:lnRef idx="1">
            <a:schemeClr val="accent1"/>
          </a:lnRef>
          <a:fillRef idx="3">
            <a:schemeClr val="accent1"/>
          </a:fillRef>
          <a:effectRef idx="2">
            <a:schemeClr val="accent1"/>
          </a:effectRef>
          <a:fontRef idx="minor">
            <a:schemeClr val="lt1"/>
          </a:fontRef>
        </p:style>
        <p:txBody>
          <a:bodyPr rtlCol="0" anchor="t" wrap="square" lIns="140000" rIns="140000" tIns="100000" bIns="70000"/>
          <a:lstStyle/>
          <a:p>
            <a:pPr algn="l">
              <a:spcAft>
                <a:spcPts val="300"/>
              </a:spcAft>
              <a:buNone/>
            </a:pPr>
            <a:r>
              <a:rPr sz="1400" b="1" i="0">
                <a:solidFill>
                  <a:srgbClr val="C00000"/>
                </a:solidFill>
                <a:latin typeface="Bookman Old Style" panose="02050604050505020204"/>
                <a:ea typeface="Bookman Old Style" panose="02050604050505020204"/>
                <a:cs typeface="Bookman Old Style" panose="02050604050505020204"/>
              </a:rPr>
              <a:t>Frontend</a:t>
            </a:r>
          </a:p>
          <a:p>
            <a:pPr algn="l">
              <a:spcAft>
                <a:spcPts val="300"/>
              </a:spcAft>
              <a:buNone/>
            </a:pPr>
            <a:r>
              <a:rPr sz="1200" b="0" i="0">
                <a:solidFill>
                  <a:srgbClr val="262626"/>
                </a:solidFill>
                <a:latin typeface="Bookman Old Style" panose="02050604050505020204"/>
                <a:ea typeface="Bookman Old Style" panose="02050604050505020204"/>
                <a:cs typeface="Bookman Old Style" panose="02050604050505020204"/>
              </a:rPr>
              <a:t>HTML5, CSS3, JavaScript (ES6+) served statically</a:t>
            </a:r>
          </a:p>
        </p:txBody>
      </p:sp>
      <p:sp>
        <p:nvSpPr>
          <p:cNvPr id="15" name="TextBox 14"/>
          <p:cNvSpPr txBox="1"/>
          <p:nvPr/>
        </p:nvSpPr>
        <p:spPr>
          <a:xfrm>
            <a:off x="900000" y="5400000"/>
            <a:ext cx="10450000" cy="548640"/>
          </a:xfrm>
          <a:prstGeom prst="rect">
            <a:avLst/>
          </a:prstGeom>
          <a:noFill/>
        </p:spPr>
        <p:txBody>
          <a:bodyPr wrap="square" anchor="ctr">
            <a:spAutoFit/>
          </a:bodyPr>
          <a:lstStyle/>
          <a:p>
            <a:pPr algn="l">
              <a:spcAft>
                <a:spcPts val="300"/>
              </a:spcAft>
              <a:buNone/>
            </a:pPr>
            <a:r>
              <a:rPr sz="1400" b="1" i="0">
                <a:solidFill>
                  <a:srgbClr val="0070C0"/>
                </a:solidFill>
                <a:latin typeface="Bookman Old Style" panose="02050604050505020204"/>
                <a:ea typeface="Bookman Old Style" panose="02050604050505020204"/>
                <a:cs typeface="Bookman Old Style" panose="02050604050505020204"/>
              </a:rPr>
              <a:t>H2 gives zero-setup development; MySQL 8 is available for production through a Spring profile.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00000" y="280000"/>
            <a:ext cx="9200000" cy="518160"/>
          </a:xfrm>
          <a:prstGeom prst="rect">
            <a:avLst/>
          </a:prstGeom>
          <a:noFill/>
        </p:spPr>
        <p:txBody>
          <a:bodyPr wrap="square" anchor="ctr">
            <a:spAutoFit/>
          </a:bodyPr>
          <a:lstStyle/>
          <a:p>
            <a:pPr algn="ctr"/>
            <a:r>
              <a:rPr sz="2800" b="1" i="0">
                <a:solidFill>
                  <a:srgbClr val="0070C0"/>
                </a:solidFill>
                <a:latin typeface="Bookman Old Style" panose="02050604050505020204"/>
                <a:ea typeface="Bookman Old Style" panose="02050604050505020204"/>
                <a:cs typeface="Bookman Old Style" panose="02050604050505020204"/>
              </a:rPr>
              <a:t>Module 1: Auth &amp; Security</a:t>
            </a:r>
          </a:p>
        </p:txBody>
      </p:sp>
      <p:sp>
        <p:nvSpPr>
          <p:cNvPr id="3" name="Rounded Rectangle 2"/>
          <p:cNvSpPr/>
          <p:nvPr/>
        </p:nvSpPr>
        <p:spPr>
          <a:xfrm>
            <a:off x="900000" y="1300000"/>
            <a:ext cx="2417500" cy="850000"/>
          </a:xfrm>
          <a:prstGeom prst="roundRect">
            <a:avLst>
              <a:gd name="adj" fmla="val 9000"/>
            </a:avLst>
          </a:prstGeom>
          <a:solidFill>
            <a:srgbClr val="EAF3FB"/>
          </a:solidFill>
          <a:ln>
            <a:no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100000" bIns="70000"/>
          <a:lstStyle/>
          <a:p>
            <a:pPr algn="ctr">
              <a:spcAft>
                <a:spcPts val="300"/>
              </a:spcAft>
              <a:buNone/>
            </a:pPr>
            <a:r>
              <a:rPr sz="1300" b="1" i="0">
                <a:solidFill>
                  <a:srgbClr val="C00000"/>
                </a:solidFill>
                <a:latin typeface="Bookman Old Style" panose="02050604050505020204"/>
                <a:ea typeface="Bookman Old Style" panose="02050604050505020204"/>
                <a:cs typeface="Bookman Old Style" panose="02050604050505020204"/>
              </a:rPr>
              <a:t>Client</a:t>
            </a:r>
          </a:p>
          <a:p>
            <a:pPr algn="ctr">
              <a:spcAft>
                <a:spcPts val="300"/>
              </a:spcAft>
              <a:buNone/>
            </a:pPr>
            <a:r>
              <a:rPr sz="1100" b="0" i="0">
                <a:solidFill>
                  <a:srgbClr val="262626"/>
                </a:solidFill>
                <a:latin typeface="Bookman Old Style" panose="02050604050505020204"/>
                <a:ea typeface="Bookman Old Style" panose="02050604050505020204"/>
                <a:cs typeface="Bookman Old Style" panose="02050604050505020204"/>
              </a:rPr>
              <a:t>Login request</a:t>
            </a:r>
          </a:p>
        </p:txBody>
      </p:sp>
      <p:sp>
        <p:nvSpPr>
          <p:cNvPr id="4" name="TextBox 3"/>
          <p:cNvSpPr txBox="1"/>
          <p:nvPr/>
        </p:nvSpPr>
        <p:spPr>
          <a:xfrm>
            <a:off x="3322500" y="1557360"/>
            <a:ext cx="250000" cy="335280"/>
          </a:xfrm>
          <a:prstGeom prst="rect">
            <a:avLst/>
          </a:prstGeom>
          <a:noFill/>
        </p:spPr>
        <p:txBody>
          <a:bodyPr wrap="none" anchor="ctr" lIns="0" rIns="0">
            <a:spAutoFit/>
          </a:bodyPr>
          <a:lstStyle/>
          <a:p>
            <a:pPr algn="ctr"/>
            <a:r>
              <a:rPr sz="2000" b="1" i="0">
                <a:solidFill>
                  <a:srgbClr val="0070C0"/>
                </a:solidFill>
                <a:latin typeface="Bookman Old Style" panose="02050604050505020204"/>
                <a:ea typeface="Bookman Old Style" panose="02050604050505020204"/>
                <a:cs typeface="Bookman Old Style" panose="02050604050505020204"/>
              </a:rPr>
              <a:t>→</a:t>
            </a:r>
          </a:p>
        </p:txBody>
      </p:sp>
      <p:sp>
        <p:nvSpPr>
          <p:cNvPr id="5" name="Rounded Rectangle 4"/>
          <p:cNvSpPr/>
          <p:nvPr/>
        </p:nvSpPr>
        <p:spPr>
          <a:xfrm>
            <a:off x="3577500" y="1300000"/>
            <a:ext cx="2417500" cy="850000"/>
          </a:xfrm>
          <a:prstGeom prst="roundRect">
            <a:avLst>
              <a:gd name="adj" fmla="val 9000"/>
            </a:avLst>
          </a:prstGeom>
          <a:solidFill>
            <a:srgbClr val="EAF3FB"/>
          </a:solidFill>
          <a:ln>
            <a:no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100000" bIns="70000"/>
          <a:lstStyle/>
          <a:p>
            <a:pPr algn="ctr">
              <a:spcAft>
                <a:spcPts val="300"/>
              </a:spcAft>
              <a:buNone/>
            </a:pPr>
            <a:r>
              <a:rPr sz="1300" b="1" i="0">
                <a:solidFill>
                  <a:srgbClr val="C00000"/>
                </a:solidFill>
                <a:latin typeface="Bookman Old Style" panose="02050604050505020204"/>
                <a:ea typeface="Bookman Old Style" panose="02050604050505020204"/>
                <a:cs typeface="Bookman Old Style" panose="02050604050505020204"/>
              </a:rPr>
              <a:t>Login Endpoint</a:t>
            </a:r>
          </a:p>
          <a:p>
            <a:pPr algn="ctr">
              <a:spcAft>
                <a:spcPts val="300"/>
              </a:spcAft>
              <a:buNone/>
            </a:pPr>
            <a:r>
              <a:rPr sz="1100" b="0" i="0">
                <a:solidFill>
                  <a:srgbClr val="262626"/>
                </a:solidFill>
                <a:latin typeface="Bookman Old Style" panose="02050604050505020204"/>
                <a:ea typeface="Bookman Old Style" panose="02050604050505020204"/>
                <a:cs typeface="Bookman Old Style" panose="02050604050505020204"/>
              </a:rPr>
              <a:t>AuthService</a:t>
            </a:r>
          </a:p>
        </p:txBody>
      </p:sp>
      <p:sp>
        <p:nvSpPr>
          <p:cNvPr id="6" name="TextBox 5"/>
          <p:cNvSpPr txBox="1"/>
          <p:nvPr/>
        </p:nvSpPr>
        <p:spPr>
          <a:xfrm>
            <a:off x="6000000" y="1557360"/>
            <a:ext cx="250000" cy="335280"/>
          </a:xfrm>
          <a:prstGeom prst="rect">
            <a:avLst/>
          </a:prstGeom>
          <a:noFill/>
        </p:spPr>
        <p:txBody>
          <a:bodyPr wrap="none" anchor="ctr" lIns="0" rIns="0">
            <a:spAutoFit/>
          </a:bodyPr>
          <a:lstStyle/>
          <a:p>
            <a:pPr algn="ctr"/>
            <a:r>
              <a:rPr sz="2000" b="1" i="0">
                <a:solidFill>
                  <a:srgbClr val="0070C0"/>
                </a:solidFill>
                <a:latin typeface="Bookman Old Style" panose="02050604050505020204"/>
                <a:ea typeface="Bookman Old Style" panose="02050604050505020204"/>
                <a:cs typeface="Bookman Old Style" panose="02050604050505020204"/>
              </a:rPr>
              <a:t>→</a:t>
            </a:r>
          </a:p>
        </p:txBody>
      </p:sp>
      <p:sp>
        <p:nvSpPr>
          <p:cNvPr id="7" name="Rounded Rectangle 6"/>
          <p:cNvSpPr/>
          <p:nvPr/>
        </p:nvSpPr>
        <p:spPr>
          <a:xfrm>
            <a:off x="6255000" y="1300000"/>
            <a:ext cx="2417500" cy="850000"/>
          </a:xfrm>
          <a:prstGeom prst="roundRect">
            <a:avLst>
              <a:gd name="adj" fmla="val 9000"/>
            </a:avLst>
          </a:prstGeom>
          <a:solidFill>
            <a:srgbClr val="EAF3FB"/>
          </a:solidFill>
          <a:ln>
            <a:no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100000" bIns="70000"/>
          <a:lstStyle/>
          <a:p>
            <a:pPr algn="ctr">
              <a:spcAft>
                <a:spcPts val="300"/>
              </a:spcAft>
              <a:buNone/>
            </a:pPr>
            <a:r>
              <a:rPr sz="1300" b="1" i="0">
                <a:solidFill>
                  <a:srgbClr val="C00000"/>
                </a:solidFill>
                <a:latin typeface="Bookman Old Style" panose="02050604050505020204"/>
                <a:ea typeface="Bookman Old Style" panose="02050604050505020204"/>
                <a:cs typeface="Bookman Old Style" panose="02050604050505020204"/>
              </a:rPr>
              <a:t>Token Generation</a:t>
            </a:r>
          </a:p>
          <a:p>
            <a:pPr algn="ctr">
              <a:spcAft>
                <a:spcPts val="300"/>
              </a:spcAft>
              <a:buNone/>
            </a:pPr>
            <a:r>
              <a:rPr sz="1100" b="0" i="0">
                <a:solidFill>
                  <a:srgbClr val="262626"/>
                </a:solidFill>
                <a:latin typeface="Bookman Old Style" panose="02050604050505020204"/>
                <a:ea typeface="Bookman Old Style" panose="02050604050505020204"/>
                <a:cs typeface="Bookman Old Style" panose="02050604050505020204"/>
              </a:rPr>
              <a:t>TokenService</a:t>
            </a:r>
          </a:p>
        </p:txBody>
      </p:sp>
      <p:sp>
        <p:nvSpPr>
          <p:cNvPr id="8" name="TextBox 7"/>
          <p:cNvSpPr txBox="1"/>
          <p:nvPr/>
        </p:nvSpPr>
        <p:spPr>
          <a:xfrm>
            <a:off x="8677500" y="1557360"/>
            <a:ext cx="250000" cy="335280"/>
          </a:xfrm>
          <a:prstGeom prst="rect">
            <a:avLst/>
          </a:prstGeom>
          <a:noFill/>
        </p:spPr>
        <p:txBody>
          <a:bodyPr wrap="none" anchor="ctr" lIns="0" rIns="0">
            <a:spAutoFit/>
          </a:bodyPr>
          <a:lstStyle/>
          <a:p>
            <a:pPr algn="ctr"/>
            <a:r>
              <a:rPr sz="2000" b="1" i="0">
                <a:solidFill>
                  <a:srgbClr val="0070C0"/>
                </a:solidFill>
                <a:latin typeface="Bookman Old Style" panose="02050604050505020204"/>
                <a:ea typeface="Bookman Old Style" panose="02050604050505020204"/>
                <a:cs typeface="Bookman Old Style" panose="02050604050505020204"/>
              </a:rPr>
              <a:t>→</a:t>
            </a:r>
          </a:p>
        </p:txBody>
      </p:sp>
      <p:sp>
        <p:nvSpPr>
          <p:cNvPr id="9" name="Rounded Rectangle 8"/>
          <p:cNvSpPr/>
          <p:nvPr/>
        </p:nvSpPr>
        <p:spPr>
          <a:xfrm>
            <a:off x="8932500" y="1300000"/>
            <a:ext cx="2417500" cy="850000"/>
          </a:xfrm>
          <a:prstGeom prst="roundRect">
            <a:avLst>
              <a:gd name="adj" fmla="val 9000"/>
            </a:avLst>
          </a:prstGeom>
          <a:solidFill>
            <a:srgbClr val="EAF3FB"/>
          </a:solidFill>
          <a:ln>
            <a:no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100000" bIns="70000"/>
          <a:lstStyle/>
          <a:p>
            <a:pPr algn="ctr">
              <a:spcAft>
                <a:spcPts val="300"/>
              </a:spcAft>
              <a:buNone/>
            </a:pPr>
            <a:r>
              <a:rPr sz="1300" b="1" i="0">
                <a:solidFill>
                  <a:srgbClr val="C00000"/>
                </a:solidFill>
                <a:latin typeface="Bookman Old Style" panose="02050604050505020204"/>
                <a:ea typeface="Bookman Old Style" panose="02050604050505020204"/>
                <a:cs typeface="Bookman Old Style" panose="02050604050505020204"/>
              </a:rPr>
              <a:t>Protected Endpoint</a:t>
            </a:r>
          </a:p>
          <a:p>
            <a:pPr algn="ctr">
              <a:spcAft>
                <a:spcPts val="300"/>
              </a:spcAft>
              <a:buNone/>
            </a:pPr>
            <a:r>
              <a:rPr sz="1100" b="0" i="0">
                <a:solidFill>
                  <a:srgbClr val="262626"/>
                </a:solidFill>
                <a:latin typeface="Bookman Old Style" panose="02050604050505020204"/>
                <a:ea typeface="Bookman Old Style" panose="02050604050505020204"/>
                <a:cs typeface="Bookman Old Style" panose="02050604050505020204"/>
              </a:rPr>
              <a:t>Authorization: Bearer</a:t>
            </a:r>
          </a:p>
        </p:txBody>
      </p:sp>
      <p:sp>
        <p:nvSpPr>
          <p:cNvPr id="10" name="Rounded Rectangle 9"/>
          <p:cNvSpPr/>
          <p:nvPr/>
        </p:nvSpPr>
        <p:spPr>
          <a:xfrm>
            <a:off x="900000" y="2300000"/>
            <a:ext cx="5100000" cy="1450000"/>
          </a:xfrm>
          <a:prstGeom prst="roundRect">
            <a:avLst>
              <a:gd name="adj" fmla="val 8000"/>
            </a:avLst>
          </a:prstGeom>
          <a:solidFill>
            <a:srgbClr val="EAF3FB"/>
          </a:solidFill>
          <a:ln>
            <a:noFill/>
          </a:ln>
        </p:spPr>
        <p:style>
          <a:lnRef idx="1">
            <a:schemeClr val="accent1"/>
          </a:lnRef>
          <a:fillRef idx="3">
            <a:schemeClr val="accent1"/>
          </a:fillRef>
          <a:effectRef idx="2">
            <a:schemeClr val="accent1"/>
          </a:effectRef>
          <a:fontRef idx="minor">
            <a:schemeClr val="lt1"/>
          </a:fontRef>
        </p:style>
        <p:txBody>
          <a:bodyPr rtlCol="0" anchor="t" wrap="square" lIns="140000" rIns="140000" tIns="100000" bIns="70000"/>
          <a:lstStyle/>
          <a:p>
            <a:pPr algn="l" marL="190000" indent="-190000">
              <a:spcAft>
                <a:spcPts val="300"/>
              </a:spcAft>
              <a:buFont typeface="Arial"/>
              <a:buChar char="•"/>
            </a:pPr>
            <a:r>
              <a:rPr sz="1300" b="1" i="0">
                <a:solidFill>
                  <a:srgbClr val="262626"/>
                </a:solidFill>
                <a:latin typeface="Bookman Old Style" panose="02050604050505020204"/>
                <a:ea typeface="Bookman Old Style" panose="02050604050505020204"/>
                <a:cs typeface="Bookman Old Style" panose="02050604050505020204"/>
              </a:rPr>
              <a:t>Stateless Tokens:</a:t>
            </a:r>
            <a:r>
              <a:rPr sz="1300" b="0" i="0">
                <a:solidFill>
                  <a:srgbClr val="262626"/>
                </a:solidFill>
                <a:latin typeface="Bookman Old Style" panose="02050604050505020204"/>
                <a:ea typeface="Bookman Old Style" panose="02050604050505020204"/>
                <a:cs typeface="Bookman Old Style" panose="02050604050505020204"/>
              </a:rPr>
              <a:t> bearer token generation, authentication and invalidation via AuthService and TokenService</a:t>
            </a:r>
          </a:p>
          <a:p>
            <a:pPr algn="l" marL="190000" indent="-190000">
              <a:spcAft>
                <a:spcPts val="300"/>
              </a:spcAft>
              <a:buFont typeface="Arial"/>
              <a:buChar char="•"/>
            </a:pPr>
            <a:r>
              <a:rPr sz="1300" b="1" i="0">
                <a:solidFill>
                  <a:srgbClr val="262626"/>
                </a:solidFill>
                <a:latin typeface="Bookman Old Style" panose="02050604050505020204"/>
                <a:ea typeface="Bookman Old Style" panose="02050604050505020204"/>
                <a:cs typeface="Bookman Old Style" panose="02050604050505020204"/>
              </a:rPr>
              <a:t>Password Hashing:</a:t>
            </a:r>
            <a:r>
              <a:rPr sz="1300" b="0" i="0">
                <a:solidFill>
                  <a:srgbClr val="262626"/>
                </a:solidFill>
                <a:latin typeface="Bookman Old Style" panose="02050604050505020204"/>
                <a:ea typeface="Bookman Old Style" panose="02050604050505020204"/>
                <a:cs typeface="Bookman Old Style" panose="02050604050505020204"/>
              </a:rPr>
              <a:t> credentials protected with PasswordEncoder</a:t>
            </a:r>
          </a:p>
        </p:txBody>
      </p:sp>
      <p:sp>
        <p:nvSpPr>
          <p:cNvPr id="11" name="Rounded Rectangle 10"/>
          <p:cNvSpPr/>
          <p:nvPr/>
        </p:nvSpPr>
        <p:spPr>
          <a:xfrm>
            <a:off x="6250000" y="2300000"/>
            <a:ext cx="5100000" cy="1450000"/>
          </a:xfrm>
          <a:prstGeom prst="roundRect">
            <a:avLst>
              <a:gd name="adj" fmla="val 8000"/>
            </a:avLst>
          </a:prstGeom>
          <a:solidFill>
            <a:srgbClr val="EAF3FB"/>
          </a:solidFill>
          <a:ln>
            <a:noFill/>
          </a:ln>
        </p:spPr>
        <p:style>
          <a:lnRef idx="1">
            <a:schemeClr val="accent1"/>
          </a:lnRef>
          <a:fillRef idx="3">
            <a:schemeClr val="accent1"/>
          </a:fillRef>
          <a:effectRef idx="2">
            <a:schemeClr val="accent1"/>
          </a:effectRef>
          <a:fontRef idx="minor">
            <a:schemeClr val="lt1"/>
          </a:fontRef>
        </p:style>
        <p:txBody>
          <a:bodyPr rtlCol="0" anchor="t" wrap="square" lIns="140000" rIns="140000" tIns="100000" bIns="70000"/>
          <a:lstStyle/>
          <a:p>
            <a:pPr algn="l" marL="190000" indent="-190000">
              <a:spcAft>
                <a:spcPts val="300"/>
              </a:spcAft>
              <a:buFont typeface="Arial"/>
              <a:buChar char="•"/>
            </a:pPr>
            <a:r>
              <a:rPr sz="1300" b="1" i="0">
                <a:solidFill>
                  <a:srgbClr val="262626"/>
                </a:solidFill>
                <a:latin typeface="Bookman Old Style" panose="02050604050505020204"/>
                <a:ea typeface="Bookman Old Style" panose="02050604050505020204"/>
                <a:cs typeface="Bookman Old Style" panose="02050604050505020204"/>
              </a:rPr>
              <a:t>AccessGuard:</a:t>
            </a:r>
            <a:r>
              <a:rPr sz="1300" b="0" i="0">
                <a:solidFill>
                  <a:srgbClr val="262626"/>
                </a:solidFill>
                <a:latin typeface="Bookman Old Style" panose="02050604050505020204"/>
                <a:ea typeface="Bookman Old Style" panose="02050604050505020204"/>
                <a:cs typeface="Bookman Old Style" panose="02050604050505020204"/>
              </a:rPr>
              <a:t> players can only update or delete their own profile, squads and friendships</a:t>
            </a:r>
          </a:p>
          <a:p>
            <a:pPr algn="l" marL="190000" indent="-190000">
              <a:spcAft>
                <a:spcPts val="300"/>
              </a:spcAft>
              <a:buFont typeface="Arial"/>
              <a:buChar char="•"/>
            </a:pPr>
            <a:r>
              <a:rPr sz="1300" b="1" i="0">
                <a:solidFill>
                  <a:srgbClr val="262626"/>
                </a:solidFill>
                <a:latin typeface="Bookman Old Style" panose="02050604050505020204"/>
                <a:ea typeface="Bookman Old Style" panose="02050604050505020204"/>
                <a:cs typeface="Bookman Old Style" panose="02050604050505020204"/>
              </a:rPr>
              <a:t>JsonSecurityErrorHandler:</a:t>
            </a:r>
            <a:r>
              <a:rPr sz="1300" b="0" i="0">
                <a:solidFill>
                  <a:srgbClr val="262626"/>
                </a:solidFill>
                <a:latin typeface="Bookman Old Style" panose="02050604050505020204"/>
                <a:ea typeface="Bookman Old Style" panose="02050604050505020204"/>
                <a:cs typeface="Bookman Old Style" panose="02050604050505020204"/>
              </a:rPr>
              <a:t> clean JSON 401 / 403 responses instead of HTML error pages</a:t>
            </a:r>
          </a:p>
        </p:txBody>
      </p:sp>
      <p:sp>
        <p:nvSpPr>
          <p:cNvPr id="12" name="SCREENSHOT PLACEHOLDER - delete after inserting image"/>
          <p:cNvSpPr/>
          <p:nvPr/>
        </p:nvSpPr>
        <p:spPr>
          <a:xfrm>
            <a:off x="900000" y="3900000"/>
            <a:ext cx="3300000" cy="1850000"/>
          </a:xfrm>
          <a:prstGeom prst="rect">
            <a:avLst/>
          </a:prstGeom>
          <a:noFill/>
          <a:ln w="12700">
            <a:solidFill>
              <a:srgbClr val="A6A6A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0" i="0">
                <a:solidFill>
                  <a:srgbClr val="A6A6A6"/>
                </a:solidFill>
                <a:latin typeface="Bookman Old Style" panose="02050604050505020204"/>
                <a:ea typeface="Bookman Old Style" panose="02050604050505020204"/>
                <a:cs typeface="Bookman Old Style" panose="02050604050505020204"/>
              </a:rPr>
              <a:t>[ Screenshot here ]</a:t>
            </a:r>
          </a:p>
        </p:txBody>
      </p:sp>
      <p:sp>
        <p:nvSpPr>
          <p:cNvPr id="13" name="TextBox 12"/>
          <p:cNvSpPr txBox="1"/>
          <p:nvPr/>
        </p:nvSpPr>
        <p:spPr>
          <a:xfrm>
            <a:off x="800000" y="5780000"/>
            <a:ext cx="3500000" cy="274320"/>
          </a:xfrm>
          <a:prstGeom prst="rect">
            <a:avLst/>
          </a:prstGeom>
          <a:noFill/>
        </p:spPr>
        <p:txBody>
          <a:bodyPr wrap="square" anchor="t">
            <a:spAutoFit/>
          </a:bodyPr>
          <a:lstStyle/>
          <a:p>
            <a:pPr algn="l">
              <a:spcAft>
                <a:spcPts val="300"/>
              </a:spcAft>
              <a:buNone/>
            </a:pPr>
            <a:r>
              <a:rPr sz="1200" b="0" i="0">
                <a:solidFill>
                  <a:srgbClr val="595959"/>
                </a:solidFill>
                <a:latin typeface="Bookman Old Style" panose="02050604050505020204"/>
                <a:ea typeface="Bookman Old Style" panose="02050604050505020204"/>
                <a:cs typeface="Bookman Old Style" panose="02050604050505020204"/>
              </a:rPr>
              <a:t>Login screen</a:t>
            </a:r>
          </a:p>
        </p:txBody>
      </p:sp>
      <p:sp>
        <p:nvSpPr>
          <p:cNvPr id="14" name="SCREENSHOT PLACEHOLDER - delete after inserting image"/>
          <p:cNvSpPr/>
          <p:nvPr/>
        </p:nvSpPr>
        <p:spPr>
          <a:xfrm>
            <a:off x="4475000" y="3900000"/>
            <a:ext cx="3300000" cy="1850000"/>
          </a:xfrm>
          <a:prstGeom prst="rect">
            <a:avLst/>
          </a:prstGeom>
          <a:noFill/>
          <a:ln w="12700">
            <a:solidFill>
              <a:srgbClr val="A6A6A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0" i="0">
                <a:solidFill>
                  <a:srgbClr val="A6A6A6"/>
                </a:solidFill>
                <a:latin typeface="Bookman Old Style" panose="02050604050505020204"/>
                <a:ea typeface="Bookman Old Style" panose="02050604050505020204"/>
                <a:cs typeface="Bookman Old Style" panose="02050604050505020204"/>
              </a:rPr>
              <a:t>[ Screenshot here ]</a:t>
            </a:r>
          </a:p>
        </p:txBody>
      </p:sp>
      <p:sp>
        <p:nvSpPr>
          <p:cNvPr id="15" name="TextBox 14"/>
          <p:cNvSpPr txBox="1"/>
          <p:nvPr/>
        </p:nvSpPr>
        <p:spPr>
          <a:xfrm>
            <a:off x="4375000" y="5780000"/>
            <a:ext cx="3500000" cy="274320"/>
          </a:xfrm>
          <a:prstGeom prst="rect">
            <a:avLst/>
          </a:prstGeom>
          <a:noFill/>
        </p:spPr>
        <p:txBody>
          <a:bodyPr wrap="square" anchor="t">
            <a:spAutoFit/>
          </a:bodyPr>
          <a:lstStyle/>
          <a:p>
            <a:pPr algn="l">
              <a:spcAft>
                <a:spcPts val="300"/>
              </a:spcAft>
              <a:buNone/>
            </a:pPr>
            <a:r>
              <a:rPr sz="1200" b="0" i="0">
                <a:solidFill>
                  <a:srgbClr val="595959"/>
                </a:solidFill>
                <a:latin typeface="Bookman Old Style" panose="02050604050505020204"/>
                <a:ea typeface="Bookman Old Style" panose="02050604050505020204"/>
                <a:cs typeface="Bookman Old Style" panose="02050604050505020204"/>
              </a:rPr>
              <a:t>Token response (login API)</a:t>
            </a:r>
          </a:p>
        </p:txBody>
      </p:sp>
      <p:sp>
        <p:nvSpPr>
          <p:cNvPr id="16" name="SCREENSHOT PLACEHOLDER - delete after inserting image"/>
          <p:cNvSpPr/>
          <p:nvPr/>
        </p:nvSpPr>
        <p:spPr>
          <a:xfrm>
            <a:off x="8050000" y="3900000"/>
            <a:ext cx="3300000" cy="1850000"/>
          </a:xfrm>
          <a:prstGeom prst="rect">
            <a:avLst/>
          </a:prstGeom>
          <a:noFill/>
          <a:ln w="12700">
            <a:solidFill>
              <a:srgbClr val="A6A6A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0" i="0">
                <a:solidFill>
                  <a:srgbClr val="A6A6A6"/>
                </a:solidFill>
                <a:latin typeface="Bookman Old Style" panose="02050604050505020204"/>
                <a:ea typeface="Bookman Old Style" panose="02050604050505020204"/>
                <a:cs typeface="Bookman Old Style" panose="02050604050505020204"/>
              </a:rPr>
              <a:t>[ Screenshot here ]</a:t>
            </a:r>
          </a:p>
        </p:txBody>
      </p:sp>
      <p:sp>
        <p:nvSpPr>
          <p:cNvPr id="17" name="TextBox 16"/>
          <p:cNvSpPr txBox="1"/>
          <p:nvPr/>
        </p:nvSpPr>
        <p:spPr>
          <a:xfrm>
            <a:off x="7950000" y="5780000"/>
            <a:ext cx="3500000" cy="274320"/>
          </a:xfrm>
          <a:prstGeom prst="rect">
            <a:avLst/>
          </a:prstGeom>
          <a:noFill/>
        </p:spPr>
        <p:txBody>
          <a:bodyPr wrap="square" anchor="t">
            <a:spAutoFit/>
          </a:bodyPr>
          <a:lstStyle/>
          <a:p>
            <a:pPr algn="l">
              <a:spcAft>
                <a:spcPts val="300"/>
              </a:spcAft>
              <a:buNone/>
            </a:pPr>
            <a:r>
              <a:rPr sz="1200" b="0" i="0">
                <a:solidFill>
                  <a:srgbClr val="595959"/>
                </a:solidFill>
                <a:latin typeface="Bookman Old Style" panose="02050604050505020204"/>
                <a:ea typeface="Bookman Old Style" panose="02050604050505020204"/>
                <a:cs typeface="Bookman Old Style" panose="02050604050505020204"/>
              </a:rPr>
              <a:t>401 / 403 JSON error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00000" y="280000"/>
            <a:ext cx="9200000" cy="518160"/>
          </a:xfrm>
          <a:prstGeom prst="rect">
            <a:avLst/>
          </a:prstGeom>
          <a:noFill/>
        </p:spPr>
        <p:txBody>
          <a:bodyPr wrap="square" anchor="ctr">
            <a:spAutoFit/>
          </a:bodyPr>
          <a:lstStyle/>
          <a:p>
            <a:pPr algn="ctr"/>
            <a:r>
              <a:rPr sz="2800" b="1" i="0">
                <a:solidFill>
                  <a:srgbClr val="0070C0"/>
                </a:solidFill>
                <a:latin typeface="Bookman Old Style" panose="02050604050505020204"/>
                <a:ea typeface="Bookman Old Style" panose="02050604050505020204"/>
                <a:cs typeface="Bookman Old Style" panose="02050604050505020204"/>
              </a:rPr>
              <a:t>Module 2: Profile &amp; Paged Search</a:t>
            </a:r>
          </a:p>
        </p:txBody>
      </p:sp>
      <p:sp>
        <p:nvSpPr>
          <p:cNvPr id="3" name="Rounded Rectangle 2"/>
          <p:cNvSpPr/>
          <p:nvPr/>
        </p:nvSpPr>
        <p:spPr>
          <a:xfrm>
            <a:off x="900000" y="1350000"/>
            <a:ext cx="5000000" cy="4400000"/>
          </a:xfrm>
          <a:prstGeom prst="roundRect">
            <a:avLst>
              <a:gd name="adj" fmla="val 6000"/>
            </a:avLst>
          </a:prstGeom>
          <a:solidFill>
            <a:srgbClr val="EAF3FB"/>
          </a:solidFill>
          <a:ln>
            <a:noFill/>
          </a:ln>
        </p:spPr>
        <p:style>
          <a:lnRef idx="1">
            <a:schemeClr val="accent1"/>
          </a:lnRef>
          <a:fillRef idx="3">
            <a:schemeClr val="accent1"/>
          </a:fillRef>
          <a:effectRef idx="2">
            <a:schemeClr val="accent1"/>
          </a:effectRef>
          <a:fontRef idx="minor">
            <a:schemeClr val="lt1"/>
          </a:fontRef>
        </p:style>
        <p:txBody>
          <a:bodyPr rtlCol="0" anchor="t" wrap="square" lIns="140000" rIns="140000" tIns="100000" bIns="70000"/>
          <a:lstStyle/>
          <a:p>
            <a:pPr algn="l">
              <a:spcAft>
                <a:spcPts val="300"/>
              </a:spcAft>
              <a:buNone/>
            </a:pPr>
            <a:r>
              <a:rPr sz="1800" b="1" i="0">
                <a:solidFill>
                  <a:srgbClr val="C00000"/>
                </a:solidFill>
                <a:latin typeface="Bookman Old Style" panose="02050604050505020204"/>
                <a:ea typeface="Bookman Old Style" panose="02050604050505020204"/>
                <a:cs typeface="Bookman Old Style" panose="02050604050505020204"/>
              </a:rPr>
              <a:t>User Profile Management</a:t>
            </a:r>
          </a:p>
          <a:p>
            <a:pPr algn="l" marL="190000" indent="-190000">
              <a:spcAft>
                <a:spcPts val="300"/>
              </a:spcAft>
              <a:buFont typeface="Arial"/>
              <a:buChar char="•"/>
            </a:pPr>
            <a:r>
              <a:rPr sz="1600" b="0" i="0">
                <a:solidFill>
                  <a:srgbClr val="262626"/>
                </a:solidFill>
                <a:latin typeface="Bookman Old Style" panose="02050604050505020204"/>
                <a:ea typeface="Bookman Old Style" panose="02050604050505020204"/>
                <a:cs typeface="Bookman Old Style" panose="02050604050505020204"/>
              </a:rPr>
              <a:t>Profiles store player metadata: primary games, playstyle and spoken languages</a:t>
            </a:r>
          </a:p>
          <a:p>
            <a:pPr algn="l" marL="190000" indent="-190000">
              <a:spcAft>
                <a:spcPts val="300"/>
              </a:spcAft>
              <a:buFont typeface="Arial"/>
              <a:buChar char="•"/>
            </a:pPr>
            <a:r>
              <a:rPr sz="1600" b="0" i="0">
                <a:solidFill>
                  <a:srgbClr val="262626"/>
                </a:solidFill>
                <a:latin typeface="Bookman Old Style" panose="02050604050505020204"/>
                <a:ea typeface="Bookman Old Style" panose="02050604050505020204"/>
                <a:cs typeface="Bookman Old Style" panose="02050604050505020204"/>
              </a:rPr>
              <a:t>Pagination and sorting with Spring Data Pageable and Sort</a:t>
            </a:r>
          </a:p>
          <a:p>
            <a:pPr algn="l">
              <a:spcAft>
                <a:spcPts val="300"/>
              </a:spcAft>
              <a:buNone/>
            </a:pPr>
            <a:r>
              <a:rPr sz="1500" b="1" i="0">
                <a:solidFill>
                  <a:srgbClr val="0070C0"/>
                </a:solidFill>
                <a:latin typeface="Bookman Old Style" panose="02050604050505020204"/>
                <a:ea typeface="Bookman Old Style" panose="02050604050505020204"/>
                <a:cs typeface="Bookman Old Style" panose="02050604050505020204"/>
              </a:rPr>
              <a:t>GET /api/v1/users?page=0&amp;size=10&amp;sort=username,asc</a:t>
            </a:r>
          </a:p>
          <a:p>
            <a:pPr algn="l" marL="190000" indent="-190000">
              <a:spcAft>
                <a:spcPts val="300"/>
              </a:spcAft>
              <a:buFont typeface="Arial"/>
              <a:buChar char="•"/>
            </a:pPr>
            <a:r>
              <a:rPr sz="1600" b="0" i="0">
                <a:solidFill>
                  <a:srgbClr val="262626"/>
                </a:solidFill>
                <a:latin typeface="Bookman Old Style" panose="02050604050505020204"/>
                <a:ea typeface="Bookman Old Style" panose="02050604050505020204"/>
                <a:cs typeface="Bookman Old Style" panose="02050604050505020204"/>
              </a:rPr>
              <a:t>Search players by username substring</a:t>
            </a:r>
          </a:p>
          <a:p>
            <a:pPr algn="l" marL="190000" indent="-190000">
              <a:spcAft>
                <a:spcPts val="300"/>
              </a:spcAft>
              <a:buFont typeface="Arial"/>
              <a:buChar char="•"/>
            </a:pPr>
            <a:r>
              <a:rPr sz="1600" b="1" i="0">
                <a:solidFill>
                  <a:srgbClr val="262626"/>
                </a:solidFill>
                <a:latin typeface="Bookman Old Style" panose="02050604050505020204"/>
                <a:ea typeface="Bookman Old Style" panose="02050604050505020204"/>
                <a:cs typeface="Bookman Old Style" panose="02050604050505020204"/>
              </a:rPr>
              <a:t>Cascade Account Deletion:</a:t>
            </a:r>
            <a:r>
              <a:rPr sz="1600" b="0" i="0">
                <a:solidFill>
                  <a:srgbClr val="262626"/>
                </a:solidFill>
                <a:latin typeface="Bookman Old Style" panose="02050604050505020204"/>
                <a:ea typeface="Bookman Old Style" panose="02050604050505020204"/>
                <a:cs typeface="Bookman Old Style" panose="02050604050505020204"/>
              </a:rPr>
              <a:t> UserServiceImpl.deleteAccount() removes friendships, squad memberships and chat history inside a single @Transactional boundary</a:t>
            </a:r>
          </a:p>
        </p:txBody>
      </p:sp>
      <p:sp>
        <p:nvSpPr>
          <p:cNvPr id="4" name="SCREENSHOT PLACEHOLDER - delete after inserting image"/>
          <p:cNvSpPr/>
          <p:nvPr/>
        </p:nvSpPr>
        <p:spPr>
          <a:xfrm>
            <a:off x="6250000" y="1350000"/>
            <a:ext cx="5100000" cy="2150000"/>
          </a:xfrm>
          <a:prstGeom prst="rect">
            <a:avLst/>
          </a:prstGeom>
          <a:noFill/>
          <a:ln w="12700">
            <a:solidFill>
              <a:srgbClr val="A6A6A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0" i="0">
                <a:solidFill>
                  <a:srgbClr val="A6A6A6"/>
                </a:solidFill>
                <a:latin typeface="Bookman Old Style" panose="02050604050505020204"/>
                <a:ea typeface="Bookman Old Style" panose="02050604050505020204"/>
                <a:cs typeface="Bookman Old Style" panose="02050604050505020204"/>
              </a:rPr>
              <a:t>[ Screenshot here ]</a:t>
            </a:r>
          </a:p>
        </p:txBody>
      </p:sp>
      <p:sp>
        <p:nvSpPr>
          <p:cNvPr id="5" name="TextBox 4"/>
          <p:cNvSpPr txBox="1"/>
          <p:nvPr/>
        </p:nvSpPr>
        <p:spPr>
          <a:xfrm>
            <a:off x="6150000" y="3530000"/>
            <a:ext cx="5300000" cy="274320"/>
          </a:xfrm>
          <a:prstGeom prst="rect">
            <a:avLst/>
          </a:prstGeom>
          <a:noFill/>
        </p:spPr>
        <p:txBody>
          <a:bodyPr wrap="square" anchor="t">
            <a:spAutoFit/>
          </a:bodyPr>
          <a:lstStyle/>
          <a:p>
            <a:pPr algn="l">
              <a:spcAft>
                <a:spcPts val="300"/>
              </a:spcAft>
              <a:buNone/>
            </a:pPr>
            <a:r>
              <a:rPr sz="1200" b="0" i="0">
                <a:solidFill>
                  <a:srgbClr val="595959"/>
                </a:solidFill>
                <a:latin typeface="Bookman Old Style" panose="02050604050505020204"/>
                <a:ea typeface="Bookman Old Style" panose="02050604050505020204"/>
                <a:cs typeface="Bookman Old Style" panose="02050604050505020204"/>
              </a:rPr>
              <a:t>Player profile page</a:t>
            </a:r>
          </a:p>
        </p:txBody>
      </p:sp>
      <p:sp>
        <p:nvSpPr>
          <p:cNvPr id="6" name="SCREENSHOT PLACEHOLDER - delete after inserting image"/>
          <p:cNvSpPr/>
          <p:nvPr/>
        </p:nvSpPr>
        <p:spPr>
          <a:xfrm>
            <a:off x="6250000" y="3950000"/>
            <a:ext cx="5100000" cy="1800000"/>
          </a:xfrm>
          <a:prstGeom prst="rect">
            <a:avLst/>
          </a:prstGeom>
          <a:noFill/>
          <a:ln w="12700">
            <a:solidFill>
              <a:srgbClr val="A6A6A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0" i="0">
                <a:solidFill>
                  <a:srgbClr val="A6A6A6"/>
                </a:solidFill>
                <a:latin typeface="Bookman Old Style" panose="02050604050505020204"/>
                <a:ea typeface="Bookman Old Style" panose="02050604050505020204"/>
                <a:cs typeface="Bookman Old Style" panose="02050604050505020204"/>
              </a:rPr>
              <a:t>[ Screenshot here ]</a:t>
            </a:r>
          </a:p>
        </p:txBody>
      </p:sp>
      <p:sp>
        <p:nvSpPr>
          <p:cNvPr id="7" name="TextBox 6"/>
          <p:cNvSpPr txBox="1"/>
          <p:nvPr/>
        </p:nvSpPr>
        <p:spPr>
          <a:xfrm>
            <a:off x="6150000" y="5780000"/>
            <a:ext cx="5300000" cy="274320"/>
          </a:xfrm>
          <a:prstGeom prst="rect">
            <a:avLst/>
          </a:prstGeom>
          <a:noFill/>
        </p:spPr>
        <p:txBody>
          <a:bodyPr wrap="square" anchor="t">
            <a:spAutoFit/>
          </a:bodyPr>
          <a:lstStyle/>
          <a:p>
            <a:pPr algn="l">
              <a:spcAft>
                <a:spcPts val="300"/>
              </a:spcAft>
              <a:buNone/>
            </a:pPr>
            <a:r>
              <a:rPr sz="1200" b="0" i="0">
                <a:solidFill>
                  <a:srgbClr val="595959"/>
                </a:solidFill>
                <a:latin typeface="Bookman Old Style" panose="02050604050505020204"/>
                <a:ea typeface="Bookman Old Style" panose="02050604050505020204"/>
                <a:cs typeface="Bookman Old Style" panose="02050604050505020204"/>
              </a:rPr>
              <a:t>Paged player search</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00000" y="280000"/>
            <a:ext cx="9200000" cy="518160"/>
          </a:xfrm>
          <a:prstGeom prst="rect">
            <a:avLst/>
          </a:prstGeom>
          <a:noFill/>
        </p:spPr>
        <p:txBody>
          <a:bodyPr wrap="square" anchor="ctr">
            <a:spAutoFit/>
          </a:bodyPr>
          <a:lstStyle/>
          <a:p>
            <a:pPr algn="ctr"/>
            <a:r>
              <a:rPr sz="2400" b="1" i="0">
                <a:solidFill>
                  <a:srgbClr val="0070C0"/>
                </a:solidFill>
                <a:latin typeface="Bookman Old Style" panose="02050604050505020204"/>
                <a:ea typeface="Bookman Old Style" panose="02050604050505020204"/>
                <a:cs typeface="Bookman Old Style" panose="02050604050505020204"/>
              </a:rPr>
              <a:t>Module 3: Squad Lobbies &amp; Filtering</a:t>
            </a:r>
          </a:p>
        </p:txBody>
      </p:sp>
      <p:sp>
        <p:nvSpPr>
          <p:cNvPr id="3" name="Rounded Rectangle 2"/>
          <p:cNvSpPr/>
          <p:nvPr/>
        </p:nvSpPr>
        <p:spPr>
          <a:xfrm>
            <a:off x="900000" y="1350000"/>
            <a:ext cx="5000000" cy="4400000"/>
          </a:xfrm>
          <a:prstGeom prst="roundRect">
            <a:avLst>
              <a:gd name="adj" fmla="val 6000"/>
            </a:avLst>
          </a:prstGeom>
          <a:solidFill>
            <a:srgbClr val="EAF3FB"/>
          </a:solidFill>
          <a:ln>
            <a:noFill/>
          </a:ln>
        </p:spPr>
        <p:style>
          <a:lnRef idx="1">
            <a:schemeClr val="accent1"/>
          </a:lnRef>
          <a:fillRef idx="3">
            <a:schemeClr val="accent1"/>
          </a:fillRef>
          <a:effectRef idx="2">
            <a:schemeClr val="accent1"/>
          </a:effectRef>
          <a:fontRef idx="minor">
            <a:schemeClr val="lt1"/>
          </a:fontRef>
        </p:style>
        <p:txBody>
          <a:bodyPr rtlCol="0" anchor="t" wrap="square" lIns="140000" rIns="140000" tIns="100000" bIns="70000"/>
          <a:lstStyle/>
          <a:p>
            <a:pPr algn="l">
              <a:spcAft>
                <a:spcPts val="300"/>
              </a:spcAft>
              <a:buNone/>
            </a:pPr>
            <a:r>
              <a:rPr sz="1700" b="1" i="0">
                <a:solidFill>
                  <a:srgbClr val="C00000"/>
                </a:solidFill>
                <a:latin typeface="Bookman Old Style" panose="02050604050505020204"/>
                <a:ea typeface="Bookman Old Style" panose="02050604050505020204"/>
                <a:cs typeface="Bookman Old Style" panose="02050604050505020204"/>
              </a:rPr>
              <a:t>Squad Lobby Features</a:t>
            </a:r>
          </a:p>
          <a:p>
            <a:pPr algn="l" marL="190000" indent="-190000">
              <a:spcAft>
                <a:spcPts val="300"/>
              </a:spcAft>
              <a:buFont typeface="Arial"/>
              <a:buChar char="•"/>
            </a:pPr>
            <a:r>
              <a:rPr sz="1500" b="1" i="0">
                <a:solidFill>
                  <a:srgbClr val="262626"/>
                </a:solidFill>
                <a:latin typeface="Bookman Old Style" panose="02050604050505020204"/>
                <a:ea typeface="Bookman Old Style" panose="02050604050505020204"/>
                <a:cs typeface="Bookman Old Style" panose="02050604050505020204"/>
              </a:rPr>
              <a:t>Squad Creation:</a:t>
            </a:r>
            <a:r>
              <a:rPr sz="1500" b="0" i="0">
                <a:solidFill>
                  <a:srgbClr val="262626"/>
                </a:solidFill>
                <a:latin typeface="Bookman Old Style" panose="02050604050505020204"/>
                <a:ea typeface="Bookman Old Style" panose="02050604050505020204"/>
                <a:cs typeface="Bookman Old Style" panose="02050604050505020204"/>
              </a:rPr>
              <a:t> players create lobbies with configurable member limits</a:t>
            </a:r>
          </a:p>
          <a:p>
            <a:pPr algn="l" marL="190000" indent="-190000">
              <a:spcAft>
                <a:spcPts val="300"/>
              </a:spcAft>
              <a:buFont typeface="Arial"/>
              <a:buChar char="•"/>
            </a:pPr>
            <a:r>
              <a:rPr sz="1500" b="1" i="0">
                <a:solidFill>
                  <a:srgbClr val="262626"/>
                </a:solidFill>
                <a:latin typeface="Bookman Old Style" panose="02050604050505020204"/>
                <a:ea typeface="Bookman Old Style" panose="02050604050505020204"/>
                <a:cs typeface="Bookman Old Style" panose="02050604050505020204"/>
              </a:rPr>
              <a:t>JPA Criteria API:</a:t>
            </a:r>
            <a:r>
              <a:rPr sz="1500" b="0" i="0">
                <a:solidFill>
                  <a:srgbClr val="262626"/>
                </a:solidFill>
                <a:latin typeface="Bookman Old Style" panose="02050604050505020204"/>
                <a:ea typeface="Bookman Old Style" panose="02050604050505020204"/>
                <a:cs typeface="Bookman Old Style" panose="02050604050505020204"/>
              </a:rPr>
              <a:t> SquadRepositoryCustomImpl builds dynamic queries (game, language, open status)</a:t>
            </a:r>
          </a:p>
          <a:p>
            <a:pPr algn="l" marL="190000" indent="-190000">
              <a:spcAft>
                <a:spcPts val="300"/>
              </a:spcAft>
              <a:buFont typeface="Arial"/>
              <a:buChar char="•"/>
            </a:pPr>
            <a:r>
              <a:rPr sz="1500" b="1" i="0">
                <a:solidFill>
                  <a:srgbClr val="262626"/>
                </a:solidFill>
                <a:latin typeface="Bookman Old Style" panose="02050604050505020204"/>
                <a:ea typeface="Bookman Old Style" panose="02050604050505020204"/>
                <a:cs typeface="Bookman Old Style" panose="02050604050505020204"/>
              </a:rPr>
              <a:t>Matrix Variables:</a:t>
            </a:r>
            <a:r>
              <a:rPr sz="1500" b="0" i="0">
                <a:solidFill>
                  <a:srgbClr val="262626"/>
                </a:solidFill>
                <a:latin typeface="Bookman Old Style" panose="02050604050505020204"/>
                <a:ea typeface="Bookman Old Style" panose="02050604050505020204"/>
                <a:cs typeface="Bookman Old Style" panose="02050604050505020204"/>
              </a:rPr>
              <a:t> /squads/browse/filter;game=Valorant;language=English</a:t>
            </a:r>
          </a:p>
          <a:p>
            <a:pPr algn="l" marL="190000" indent="-190000">
              <a:spcAft>
                <a:spcPts val="300"/>
              </a:spcAft>
              <a:buFont typeface="Arial"/>
              <a:buChar char="•"/>
            </a:pPr>
            <a:r>
              <a:rPr sz="1500" b="1" i="0">
                <a:solidFill>
                  <a:srgbClr val="262626"/>
                </a:solidFill>
                <a:latin typeface="Bookman Old Style" panose="02050604050505020204"/>
                <a:ea typeface="Bookman Old Style" panose="02050604050505020204"/>
                <a:cs typeface="Bookman Old Style" panose="02050604050505020204"/>
              </a:rPr>
              <a:t>Pessimistic Locking:</a:t>
            </a:r>
            <a:r>
              <a:rPr sz="1500" b="0" i="0">
                <a:solidFill>
                  <a:srgbClr val="262626"/>
                </a:solidFill>
                <a:latin typeface="Bookman Old Style" panose="02050604050505020204"/>
                <a:ea typeface="Bookman Old Style" panose="02050604050505020204"/>
                <a:cs typeface="Bookman Old Style" panose="02050604050505020204"/>
              </a:rPr>
              <a:t> @Lock(PESSIMISTIC_WRITE) in SquadService.join() prevents overfilled lobbies on concurrent joins</a:t>
            </a:r>
          </a:p>
        </p:txBody>
      </p:sp>
      <p:sp>
        <p:nvSpPr>
          <p:cNvPr id="4" name="SCREENSHOT PLACEHOLDER - delete after inserting image"/>
          <p:cNvSpPr/>
          <p:nvPr/>
        </p:nvSpPr>
        <p:spPr>
          <a:xfrm>
            <a:off x="6250000" y="1350000"/>
            <a:ext cx="5100000" cy="2150000"/>
          </a:xfrm>
          <a:prstGeom prst="rect">
            <a:avLst/>
          </a:prstGeom>
          <a:noFill/>
          <a:ln w="12700">
            <a:solidFill>
              <a:srgbClr val="A6A6A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0" i="0">
                <a:solidFill>
                  <a:srgbClr val="A6A6A6"/>
                </a:solidFill>
                <a:latin typeface="Bookman Old Style" panose="02050604050505020204"/>
                <a:ea typeface="Bookman Old Style" panose="02050604050505020204"/>
                <a:cs typeface="Bookman Old Style" panose="02050604050505020204"/>
              </a:rPr>
              <a:t>[ Screenshot here ]</a:t>
            </a:r>
          </a:p>
        </p:txBody>
      </p:sp>
      <p:sp>
        <p:nvSpPr>
          <p:cNvPr id="5" name="TextBox 4"/>
          <p:cNvSpPr txBox="1"/>
          <p:nvPr/>
        </p:nvSpPr>
        <p:spPr>
          <a:xfrm>
            <a:off x="6150000" y="3530000"/>
            <a:ext cx="5300000" cy="274320"/>
          </a:xfrm>
          <a:prstGeom prst="rect">
            <a:avLst/>
          </a:prstGeom>
          <a:noFill/>
        </p:spPr>
        <p:txBody>
          <a:bodyPr wrap="square" anchor="t">
            <a:spAutoFit/>
          </a:bodyPr>
          <a:lstStyle/>
          <a:p>
            <a:pPr algn="l">
              <a:spcAft>
                <a:spcPts val="300"/>
              </a:spcAft>
              <a:buNone/>
            </a:pPr>
            <a:r>
              <a:rPr sz="1200" b="0" i="0">
                <a:solidFill>
                  <a:srgbClr val="595959"/>
                </a:solidFill>
                <a:latin typeface="Bookman Old Style" panose="02050604050505020204"/>
                <a:ea typeface="Bookman Old Style" panose="02050604050505020204"/>
                <a:cs typeface="Bookman Old Style" panose="02050604050505020204"/>
              </a:rPr>
              <a:t>Filtered squad lobby</a:t>
            </a:r>
          </a:p>
        </p:txBody>
      </p:sp>
      <p:sp>
        <p:nvSpPr>
          <p:cNvPr id="6" name="SCREENSHOT PLACEHOLDER - delete after inserting image"/>
          <p:cNvSpPr/>
          <p:nvPr/>
        </p:nvSpPr>
        <p:spPr>
          <a:xfrm>
            <a:off x="6250000" y="3950000"/>
            <a:ext cx="5100000" cy="1800000"/>
          </a:xfrm>
          <a:prstGeom prst="rect">
            <a:avLst/>
          </a:prstGeom>
          <a:noFill/>
          <a:ln w="12700">
            <a:solidFill>
              <a:srgbClr val="A6A6A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0" i="0">
                <a:solidFill>
                  <a:srgbClr val="A6A6A6"/>
                </a:solidFill>
                <a:latin typeface="Bookman Old Style" panose="02050604050505020204"/>
                <a:ea typeface="Bookman Old Style" panose="02050604050505020204"/>
                <a:cs typeface="Bookman Old Style" panose="02050604050505020204"/>
              </a:rPr>
              <a:t>[ Screenshot here ]</a:t>
            </a:r>
          </a:p>
        </p:txBody>
      </p:sp>
      <p:sp>
        <p:nvSpPr>
          <p:cNvPr id="7" name="TextBox 6"/>
          <p:cNvSpPr txBox="1"/>
          <p:nvPr/>
        </p:nvSpPr>
        <p:spPr>
          <a:xfrm>
            <a:off x="6150000" y="5780000"/>
            <a:ext cx="5300000" cy="274320"/>
          </a:xfrm>
          <a:prstGeom prst="rect">
            <a:avLst/>
          </a:prstGeom>
          <a:noFill/>
        </p:spPr>
        <p:txBody>
          <a:bodyPr wrap="square" anchor="t">
            <a:spAutoFit/>
          </a:bodyPr>
          <a:lstStyle/>
          <a:p>
            <a:pPr algn="l">
              <a:spcAft>
                <a:spcPts val="300"/>
              </a:spcAft>
              <a:buNone/>
            </a:pPr>
            <a:r>
              <a:rPr sz="1200" b="0" i="0">
                <a:solidFill>
                  <a:srgbClr val="595959"/>
                </a:solidFill>
                <a:latin typeface="Bookman Old Style" panose="02050604050505020204"/>
                <a:ea typeface="Bookman Old Style" panose="02050604050505020204"/>
                <a:cs typeface="Bookman Old Style" panose="02050604050505020204"/>
              </a:rPr>
              <a:t>Matrix-variable request / response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00000" y="280000"/>
            <a:ext cx="9200000" cy="518160"/>
          </a:xfrm>
          <a:prstGeom prst="rect">
            <a:avLst/>
          </a:prstGeom>
          <a:noFill/>
        </p:spPr>
        <p:txBody>
          <a:bodyPr wrap="square" anchor="ctr">
            <a:spAutoFit/>
          </a:bodyPr>
          <a:lstStyle/>
          <a:p>
            <a:pPr algn="ctr"/>
            <a:r>
              <a:rPr sz="2800" b="1" i="0">
                <a:solidFill>
                  <a:srgbClr val="0070C0"/>
                </a:solidFill>
                <a:latin typeface="Bookman Old Style" panose="02050604050505020204"/>
                <a:ea typeface="Bookman Old Style" panose="02050604050505020204"/>
                <a:cs typeface="Bookman Old Style" panose="02050604050505020204"/>
              </a:rPr>
              <a:t>Module 4: Matching Engine</a:t>
            </a:r>
          </a:p>
        </p:txBody>
      </p:sp>
      <p:sp>
        <p:nvSpPr>
          <p:cNvPr id="3" name="Rounded Rectangle 2"/>
          <p:cNvSpPr/>
          <p:nvPr/>
        </p:nvSpPr>
        <p:spPr>
          <a:xfrm>
            <a:off x="900000" y="1350000"/>
            <a:ext cx="1650000" cy="950000"/>
          </a:xfrm>
          <a:prstGeom prst="roundRect">
            <a:avLst>
              <a:gd name="adj" fmla="val 10000"/>
            </a:avLst>
          </a:prstGeom>
          <a:solidFill>
            <a:srgbClr val="EAF3FB"/>
          </a:solidFill>
          <a:ln>
            <a:no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100000" bIns="70000"/>
          <a:lstStyle/>
          <a:p>
            <a:pPr algn="ctr">
              <a:spcAft>
                <a:spcPts val="300"/>
              </a:spcAft>
              <a:buNone/>
            </a:pPr>
            <a:r>
              <a:rPr sz="2600" b="1" i="0">
                <a:solidFill>
                  <a:srgbClr val="C00000"/>
                </a:solidFill>
                <a:latin typeface="Bookman Old Style" panose="02050604050505020204"/>
                <a:ea typeface="Bookman Old Style" panose="02050604050505020204"/>
                <a:cs typeface="Bookman Old Style" panose="02050604050505020204"/>
              </a:rPr>
              <a:t>50%</a:t>
            </a:r>
          </a:p>
          <a:p>
            <a:pPr algn="ctr">
              <a:spcAft>
                <a:spcPts val="300"/>
              </a:spcAft>
              <a:buNone/>
            </a:pPr>
            <a:r>
              <a:rPr sz="1200" b="0" i="0">
                <a:solidFill>
                  <a:srgbClr val="262626"/>
                </a:solidFill>
                <a:latin typeface="Bookman Old Style" panose="02050604050505020204"/>
                <a:ea typeface="Bookman Old Style" panose="02050604050505020204"/>
                <a:cs typeface="Bookman Old Style" panose="02050604050505020204"/>
              </a:rPr>
              <a:t>Game Match</a:t>
            </a:r>
          </a:p>
        </p:txBody>
      </p:sp>
      <p:sp>
        <p:nvSpPr>
          <p:cNvPr id="4" name="Rounded Rectangle 3"/>
          <p:cNvSpPr/>
          <p:nvPr/>
        </p:nvSpPr>
        <p:spPr>
          <a:xfrm>
            <a:off x="2725000" y="1350000"/>
            <a:ext cx="1650000" cy="950000"/>
          </a:xfrm>
          <a:prstGeom prst="roundRect">
            <a:avLst>
              <a:gd name="adj" fmla="val 10000"/>
            </a:avLst>
          </a:prstGeom>
          <a:solidFill>
            <a:srgbClr val="EAF3FB"/>
          </a:solidFill>
          <a:ln>
            <a:no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100000" bIns="70000"/>
          <a:lstStyle/>
          <a:p>
            <a:pPr algn="ctr">
              <a:spcAft>
                <a:spcPts val="300"/>
              </a:spcAft>
              <a:buNone/>
            </a:pPr>
            <a:r>
              <a:rPr sz="2600" b="1" i="0">
                <a:solidFill>
                  <a:srgbClr val="C00000"/>
                </a:solidFill>
                <a:latin typeface="Bookman Old Style" panose="02050604050505020204"/>
                <a:ea typeface="Bookman Old Style" panose="02050604050505020204"/>
                <a:cs typeface="Bookman Old Style" panose="02050604050505020204"/>
              </a:rPr>
              <a:t>30%</a:t>
            </a:r>
          </a:p>
          <a:p>
            <a:pPr algn="ctr">
              <a:spcAft>
                <a:spcPts val="300"/>
              </a:spcAft>
              <a:buNone/>
            </a:pPr>
            <a:r>
              <a:rPr sz="1200" b="0" i="0">
                <a:solidFill>
                  <a:srgbClr val="262626"/>
                </a:solidFill>
                <a:latin typeface="Bookman Old Style" panose="02050604050505020204"/>
                <a:ea typeface="Bookman Old Style" panose="02050604050505020204"/>
                <a:cs typeface="Bookman Old Style" panose="02050604050505020204"/>
              </a:rPr>
              <a:t>Language Match</a:t>
            </a:r>
          </a:p>
        </p:txBody>
      </p:sp>
      <p:sp>
        <p:nvSpPr>
          <p:cNvPr id="5" name="Rounded Rectangle 4"/>
          <p:cNvSpPr/>
          <p:nvPr/>
        </p:nvSpPr>
        <p:spPr>
          <a:xfrm>
            <a:off x="4550000" y="1350000"/>
            <a:ext cx="1650000" cy="950000"/>
          </a:xfrm>
          <a:prstGeom prst="roundRect">
            <a:avLst>
              <a:gd name="adj" fmla="val 10000"/>
            </a:avLst>
          </a:prstGeom>
          <a:solidFill>
            <a:srgbClr val="EAF3FB"/>
          </a:solidFill>
          <a:ln>
            <a:no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100000" bIns="70000"/>
          <a:lstStyle/>
          <a:p>
            <a:pPr algn="ctr">
              <a:spcAft>
                <a:spcPts val="300"/>
              </a:spcAft>
              <a:buNone/>
            </a:pPr>
            <a:r>
              <a:rPr sz="2600" b="1" i="0">
                <a:solidFill>
                  <a:srgbClr val="C00000"/>
                </a:solidFill>
                <a:latin typeface="Bookman Old Style" panose="02050604050505020204"/>
                <a:ea typeface="Bookman Old Style" panose="02050604050505020204"/>
                <a:cs typeface="Bookman Old Style" panose="02050604050505020204"/>
              </a:rPr>
              <a:t>20%</a:t>
            </a:r>
          </a:p>
          <a:p>
            <a:pPr algn="ctr">
              <a:spcAft>
                <a:spcPts val="300"/>
              </a:spcAft>
              <a:buNone/>
            </a:pPr>
            <a:r>
              <a:rPr sz="1200" b="0" i="0">
                <a:solidFill>
                  <a:srgbClr val="262626"/>
                </a:solidFill>
                <a:latin typeface="Bookman Old Style" panose="02050604050505020204"/>
                <a:ea typeface="Bookman Old Style" panose="02050604050505020204"/>
                <a:cs typeface="Bookman Old Style" panose="02050604050505020204"/>
              </a:rPr>
              <a:t>Playstyle Match</a:t>
            </a:r>
          </a:p>
        </p:txBody>
      </p:sp>
      <p:sp>
        <p:nvSpPr>
          <p:cNvPr id="6" name="Rounded Rectangle 5"/>
          <p:cNvSpPr/>
          <p:nvPr/>
        </p:nvSpPr>
        <p:spPr>
          <a:xfrm>
            <a:off x="900000" y="2450000"/>
            <a:ext cx="5300000" cy="900000"/>
          </a:xfrm>
          <a:prstGeom prst="roundRect">
            <a:avLst>
              <a:gd name="adj" fmla="val 8000"/>
            </a:avLst>
          </a:prstGeom>
          <a:solidFill>
            <a:srgbClr val="EAF3FB"/>
          </a:solidFill>
          <a:ln>
            <a:noFill/>
          </a:ln>
        </p:spPr>
        <p:style>
          <a:lnRef idx="1">
            <a:schemeClr val="accent1"/>
          </a:lnRef>
          <a:fillRef idx="3">
            <a:schemeClr val="accent1"/>
          </a:fillRef>
          <a:effectRef idx="2">
            <a:schemeClr val="accent1"/>
          </a:effectRef>
          <a:fontRef idx="minor">
            <a:schemeClr val="lt1"/>
          </a:fontRef>
        </p:style>
        <p:txBody>
          <a:bodyPr rtlCol="0" anchor="t" wrap="square" lIns="140000" rIns="140000" tIns="100000" bIns="70000"/>
          <a:lstStyle/>
          <a:p>
            <a:pPr algn="l">
              <a:spcAft>
                <a:spcPts val="300"/>
              </a:spcAft>
              <a:buNone/>
            </a:pPr>
            <a:r>
              <a:rPr sz="1600" b="1" i="0">
                <a:solidFill>
                  <a:srgbClr val="C00000"/>
                </a:solidFill>
                <a:latin typeface="Bookman Old Style" panose="02050604050505020204"/>
                <a:ea typeface="Bookman Old Style" panose="02050604050505020204"/>
                <a:cs typeface="Bookman Old Style" panose="02050604050505020204"/>
              </a:rPr>
              <a:t>Weighted Scoring Algorithm</a:t>
            </a:r>
          </a:p>
          <a:p>
            <a:pPr algn="l">
              <a:spcAft>
                <a:spcPts val="300"/>
              </a:spcAft>
              <a:buNone/>
            </a:pPr>
            <a:r>
              <a:rPr sz="1300" b="1" i="0">
                <a:solidFill>
                  <a:srgbClr val="0070C0"/>
                </a:solidFill>
                <a:latin typeface="Bookman Old Style" panose="02050604050505020204"/>
                <a:ea typeface="Bookman Old Style" panose="02050604050505020204"/>
                <a:cs typeface="Bookman Old Style" panose="02050604050505020204"/>
              </a:rPr>
              <a:t>Score = (w1 · Game) + (w2 · Language) + (w3 · Playstyle)</a:t>
            </a:r>
          </a:p>
        </p:txBody>
      </p:sp>
      <p:sp>
        <p:nvSpPr>
          <p:cNvPr id="7" name="Rounded Rectangle 6"/>
          <p:cNvSpPr/>
          <p:nvPr/>
        </p:nvSpPr>
        <p:spPr>
          <a:xfrm>
            <a:off x="900000" y="3500000"/>
            <a:ext cx="5300000" cy="2250000"/>
          </a:xfrm>
          <a:prstGeom prst="roundRect">
            <a:avLst>
              <a:gd name="adj" fmla="val 8000"/>
            </a:avLst>
          </a:prstGeom>
          <a:solidFill>
            <a:srgbClr val="EAF3FB"/>
          </a:solidFill>
          <a:ln>
            <a:noFill/>
          </a:ln>
        </p:spPr>
        <p:style>
          <a:lnRef idx="1">
            <a:schemeClr val="accent1"/>
          </a:lnRef>
          <a:fillRef idx="3">
            <a:schemeClr val="accent1"/>
          </a:fillRef>
          <a:effectRef idx="2">
            <a:schemeClr val="accent1"/>
          </a:effectRef>
          <a:fontRef idx="minor">
            <a:schemeClr val="lt1"/>
          </a:fontRef>
        </p:style>
        <p:txBody>
          <a:bodyPr rtlCol="0" anchor="t" wrap="square" lIns="140000" rIns="140000" tIns="100000" bIns="70000"/>
          <a:lstStyle/>
          <a:p>
            <a:pPr algn="l" marL="190000" indent="-190000">
              <a:spcAft>
                <a:spcPts val="300"/>
              </a:spcAft>
              <a:buFont typeface="Arial"/>
              <a:buChar char="•"/>
            </a:pPr>
            <a:r>
              <a:rPr sz="1400" b="1" i="0">
                <a:solidFill>
                  <a:srgbClr val="262626"/>
                </a:solidFill>
                <a:latin typeface="Bookman Old Style" panose="02050604050505020204"/>
                <a:ea typeface="Bookman Old Style" panose="02050604050505020204"/>
                <a:cs typeface="Bookman Old Style" panose="02050604050505020204"/>
              </a:rPr>
              <a:t>Prototype Scope:</a:t>
            </a:r>
            <a:r>
              <a:rPr sz="1400" b="0" i="0">
                <a:solidFill>
                  <a:srgbClr val="262626"/>
                </a:solidFill>
                <a:latin typeface="Bookman Old Style" panose="02050604050505020204"/>
                <a:ea typeface="Bookman Old Style" panose="02050604050505020204"/>
                <a:cs typeface="Bookman Old Style" panose="02050604050505020204"/>
              </a:rPr>
              <a:t> SquadMatcher is @Scope("prototype"), fetched via ObjectProvider for isolated per-request calculation</a:t>
            </a:r>
          </a:p>
          <a:p>
            <a:pPr algn="l" marL="190000" indent="-190000">
              <a:spcAft>
                <a:spcPts val="300"/>
              </a:spcAft>
              <a:buFont typeface="Arial"/>
              <a:buChar char="•"/>
            </a:pPr>
            <a:r>
              <a:rPr sz="1400" b="0" i="0">
                <a:solidFill>
                  <a:srgbClr val="262626"/>
                </a:solidFill>
                <a:latin typeface="Bookman Old Style" panose="02050604050505020204"/>
                <a:ea typeface="Bookman Old Style" panose="02050604050505020204"/>
                <a:cs typeface="Bookman Old Style" panose="02050604050505020204"/>
              </a:rPr>
              <a:t>Compares open squads with the player's game, language and playstyle</a:t>
            </a:r>
          </a:p>
          <a:p>
            <a:pPr algn="l" marL="190000" indent="-190000">
              <a:spcAft>
                <a:spcPts val="300"/>
              </a:spcAft>
              <a:buFont typeface="Arial"/>
              <a:buChar char="•"/>
            </a:pPr>
            <a:r>
              <a:rPr sz="1400" b="0" i="0">
                <a:solidFill>
                  <a:srgbClr val="262626"/>
                </a:solidFill>
                <a:latin typeface="Bookman Old Style" panose="02050604050505020204"/>
                <a:ea typeface="Bookman Old Style" panose="02050604050505020204"/>
                <a:cs typeface="Bookman Old Style" panose="02050604050505020204"/>
              </a:rPr>
              <a:t>Returns top recommended squads with a match % and human-readable reasons</a:t>
            </a:r>
          </a:p>
        </p:txBody>
      </p:sp>
      <p:sp>
        <p:nvSpPr>
          <p:cNvPr id="8" name="SCREENSHOT PLACEHOLDER - delete after inserting image"/>
          <p:cNvSpPr/>
          <p:nvPr/>
        </p:nvSpPr>
        <p:spPr>
          <a:xfrm>
            <a:off x="6450000" y="1350000"/>
            <a:ext cx="4900000" cy="4400000"/>
          </a:xfrm>
          <a:prstGeom prst="rect">
            <a:avLst/>
          </a:prstGeom>
          <a:noFill/>
          <a:ln w="12700">
            <a:solidFill>
              <a:srgbClr val="A6A6A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0" i="0">
                <a:solidFill>
                  <a:srgbClr val="A6A6A6"/>
                </a:solidFill>
                <a:latin typeface="Bookman Old Style" panose="02050604050505020204"/>
                <a:ea typeface="Bookman Old Style" panose="02050604050505020204"/>
                <a:cs typeface="Bookman Old Style" panose="02050604050505020204"/>
              </a:rPr>
              <a:t>[ Screenshot here ]</a:t>
            </a:r>
          </a:p>
        </p:txBody>
      </p:sp>
      <p:sp>
        <p:nvSpPr>
          <p:cNvPr id="9" name="TextBox 8"/>
          <p:cNvSpPr txBox="1"/>
          <p:nvPr/>
        </p:nvSpPr>
        <p:spPr>
          <a:xfrm>
            <a:off x="6350000" y="5780000"/>
            <a:ext cx="5100000" cy="274320"/>
          </a:xfrm>
          <a:prstGeom prst="rect">
            <a:avLst/>
          </a:prstGeom>
          <a:noFill/>
        </p:spPr>
        <p:txBody>
          <a:bodyPr wrap="square" anchor="t">
            <a:spAutoFit/>
          </a:bodyPr>
          <a:lstStyle/>
          <a:p>
            <a:pPr algn="l">
              <a:spcAft>
                <a:spcPts val="300"/>
              </a:spcAft>
              <a:buNone/>
            </a:pPr>
            <a:r>
              <a:rPr sz="1200" b="0" i="0">
                <a:solidFill>
                  <a:srgbClr val="595959"/>
                </a:solidFill>
                <a:latin typeface="Bookman Old Style" panose="02050604050505020204"/>
                <a:ea typeface="Bookman Old Style" panose="02050604050505020204"/>
                <a:cs typeface="Bookman Old Style" panose="02050604050505020204"/>
              </a:rPr>
              <a:t>Recommended squads with match percentage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00000" y="280000"/>
            <a:ext cx="9200000" cy="518160"/>
          </a:xfrm>
          <a:prstGeom prst="rect">
            <a:avLst/>
          </a:prstGeom>
          <a:noFill/>
        </p:spPr>
        <p:txBody>
          <a:bodyPr wrap="square" anchor="ctr">
            <a:spAutoFit/>
          </a:bodyPr>
          <a:lstStyle/>
          <a:p>
            <a:pPr algn="ctr"/>
            <a:r>
              <a:rPr sz="2800" b="1" i="0">
                <a:solidFill>
                  <a:srgbClr val="0070C0"/>
                </a:solidFill>
                <a:latin typeface="Bookman Old Style" panose="02050604050505020204"/>
                <a:ea typeface="Bookman Old Style" panose="02050604050505020204"/>
                <a:cs typeface="Bookman Old Style" panose="02050604050505020204"/>
              </a:rPr>
              <a:t>Module 5: Social Network</a:t>
            </a:r>
          </a:p>
        </p:txBody>
      </p:sp>
      <p:sp>
        <p:nvSpPr>
          <p:cNvPr id="3" name="Rounded Rectangle 2"/>
          <p:cNvSpPr/>
          <p:nvPr/>
        </p:nvSpPr>
        <p:spPr>
          <a:xfrm>
            <a:off x="900000" y="1300000"/>
            <a:ext cx="1882000" cy="1100000"/>
          </a:xfrm>
          <a:prstGeom prst="roundRect">
            <a:avLst>
              <a:gd name="adj" fmla="val 9000"/>
            </a:avLst>
          </a:prstGeom>
          <a:solidFill>
            <a:srgbClr val="EAF3FB"/>
          </a:solidFill>
          <a:ln>
            <a:no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100000" bIns="70000"/>
          <a:lstStyle/>
          <a:p>
            <a:pPr algn="ctr">
              <a:spcAft>
                <a:spcPts val="300"/>
              </a:spcAft>
              <a:buNone/>
            </a:pPr>
            <a:r>
              <a:rPr sz="1300" b="1" i="0">
                <a:solidFill>
                  <a:srgbClr val="C00000"/>
                </a:solidFill>
                <a:latin typeface="Bookman Old Style" panose="02050604050505020204"/>
                <a:ea typeface="Bookman Old Style" panose="02050604050505020204"/>
                <a:cs typeface="Bookman Old Style" panose="02050604050505020204"/>
              </a:rPr>
              <a:t>Send Request</a:t>
            </a:r>
          </a:p>
          <a:p>
            <a:pPr algn="ctr">
              <a:spcAft>
                <a:spcPts val="300"/>
              </a:spcAft>
              <a:buNone/>
            </a:pPr>
            <a:r>
              <a:rPr sz="1100" b="0" i="0">
                <a:solidFill>
                  <a:srgbClr val="262626"/>
                </a:solidFill>
                <a:latin typeface="Bookman Old Style" panose="02050604050505020204"/>
                <a:ea typeface="Bookman Old Style" panose="02050604050505020204"/>
                <a:cs typeface="Bookman Old Style" panose="02050604050505020204"/>
              </a:rPr>
              <a:t>POST /friends/request</a:t>
            </a:r>
          </a:p>
        </p:txBody>
      </p:sp>
      <p:sp>
        <p:nvSpPr>
          <p:cNvPr id="4" name="TextBox 3"/>
          <p:cNvSpPr txBox="1"/>
          <p:nvPr/>
        </p:nvSpPr>
        <p:spPr>
          <a:xfrm>
            <a:off x="2787000" y="1682360"/>
            <a:ext cx="250000" cy="335280"/>
          </a:xfrm>
          <a:prstGeom prst="rect">
            <a:avLst/>
          </a:prstGeom>
          <a:noFill/>
        </p:spPr>
        <p:txBody>
          <a:bodyPr wrap="none" anchor="ctr" lIns="0" rIns="0">
            <a:spAutoFit/>
          </a:bodyPr>
          <a:lstStyle/>
          <a:p>
            <a:pPr algn="ctr"/>
            <a:r>
              <a:rPr sz="2000" b="1" i="0">
                <a:solidFill>
                  <a:srgbClr val="0070C0"/>
                </a:solidFill>
                <a:latin typeface="Bookman Old Style" panose="02050604050505020204"/>
                <a:ea typeface="Bookman Old Style" panose="02050604050505020204"/>
                <a:cs typeface="Bookman Old Style" panose="02050604050505020204"/>
              </a:rPr>
              <a:t>→</a:t>
            </a:r>
          </a:p>
        </p:txBody>
      </p:sp>
      <p:sp>
        <p:nvSpPr>
          <p:cNvPr id="5" name="Rounded Rectangle 4"/>
          <p:cNvSpPr/>
          <p:nvPr/>
        </p:nvSpPr>
        <p:spPr>
          <a:xfrm>
            <a:off x="3042000" y="1300000"/>
            <a:ext cx="1882000" cy="1100000"/>
          </a:xfrm>
          <a:prstGeom prst="roundRect">
            <a:avLst>
              <a:gd name="adj" fmla="val 9000"/>
            </a:avLst>
          </a:prstGeom>
          <a:solidFill>
            <a:srgbClr val="EAF3FB"/>
          </a:solidFill>
          <a:ln>
            <a:no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100000" bIns="70000"/>
          <a:lstStyle/>
          <a:p>
            <a:pPr algn="ctr">
              <a:spcAft>
                <a:spcPts val="300"/>
              </a:spcAft>
              <a:buNone/>
            </a:pPr>
            <a:r>
              <a:rPr sz="1300" b="1" i="0">
                <a:solidFill>
                  <a:srgbClr val="C00000"/>
                </a:solidFill>
                <a:latin typeface="Bookman Old Style" panose="02050604050505020204"/>
                <a:ea typeface="Bookman Old Style" panose="02050604050505020204"/>
                <a:cs typeface="Bookman Old Style" panose="02050604050505020204"/>
              </a:rPr>
              <a:t>Pending</a:t>
            </a:r>
          </a:p>
          <a:p>
            <a:pPr algn="ctr">
              <a:spcAft>
                <a:spcPts val="300"/>
              </a:spcAft>
              <a:buNone/>
            </a:pPr>
            <a:r>
              <a:rPr sz="1100" b="0" i="0">
                <a:solidFill>
                  <a:srgbClr val="262626"/>
                </a:solidFill>
                <a:latin typeface="Bookman Old Style" panose="02050604050505020204"/>
                <a:ea typeface="Bookman Old Style" panose="02050604050505020204"/>
                <a:cs typeface="Bookman Old Style" panose="02050604050505020204"/>
              </a:rPr>
              <a:t>Queue for recipient</a:t>
            </a:r>
          </a:p>
        </p:txBody>
      </p:sp>
      <p:sp>
        <p:nvSpPr>
          <p:cNvPr id="6" name="TextBox 5"/>
          <p:cNvSpPr txBox="1"/>
          <p:nvPr/>
        </p:nvSpPr>
        <p:spPr>
          <a:xfrm>
            <a:off x="4929000" y="1682360"/>
            <a:ext cx="250000" cy="335280"/>
          </a:xfrm>
          <a:prstGeom prst="rect">
            <a:avLst/>
          </a:prstGeom>
          <a:noFill/>
        </p:spPr>
        <p:txBody>
          <a:bodyPr wrap="none" anchor="ctr" lIns="0" rIns="0">
            <a:spAutoFit/>
          </a:bodyPr>
          <a:lstStyle/>
          <a:p>
            <a:pPr algn="ctr"/>
            <a:r>
              <a:rPr sz="2000" b="1" i="0">
                <a:solidFill>
                  <a:srgbClr val="0070C0"/>
                </a:solidFill>
                <a:latin typeface="Bookman Old Style" panose="02050604050505020204"/>
                <a:ea typeface="Bookman Old Style" panose="02050604050505020204"/>
                <a:cs typeface="Bookman Old Style" panose="02050604050505020204"/>
              </a:rPr>
              <a:t>→</a:t>
            </a:r>
          </a:p>
        </p:txBody>
      </p:sp>
      <p:sp>
        <p:nvSpPr>
          <p:cNvPr id="7" name="Rounded Rectangle 6"/>
          <p:cNvSpPr/>
          <p:nvPr/>
        </p:nvSpPr>
        <p:spPr>
          <a:xfrm>
            <a:off x="5184000" y="1300000"/>
            <a:ext cx="1882000" cy="1100000"/>
          </a:xfrm>
          <a:prstGeom prst="roundRect">
            <a:avLst>
              <a:gd name="adj" fmla="val 9000"/>
            </a:avLst>
          </a:prstGeom>
          <a:solidFill>
            <a:srgbClr val="EAF3FB"/>
          </a:solidFill>
          <a:ln>
            <a:no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100000" bIns="70000"/>
          <a:lstStyle/>
          <a:p>
            <a:pPr algn="ctr">
              <a:spcAft>
                <a:spcPts val="300"/>
              </a:spcAft>
              <a:buNone/>
            </a:pPr>
            <a:r>
              <a:rPr sz="1300" b="1" i="0">
                <a:solidFill>
                  <a:srgbClr val="C00000"/>
                </a:solidFill>
                <a:latin typeface="Bookman Old Style" panose="02050604050505020204"/>
                <a:ea typeface="Bookman Old Style" panose="02050604050505020204"/>
                <a:cs typeface="Bookman Old Style" panose="02050604050505020204"/>
              </a:rPr>
              <a:t>Accepted</a:t>
            </a:r>
          </a:p>
          <a:p>
            <a:pPr algn="ctr">
              <a:spcAft>
                <a:spcPts val="300"/>
              </a:spcAft>
              <a:buNone/>
            </a:pPr>
            <a:r>
              <a:rPr sz="1100" b="0" i="0">
                <a:solidFill>
                  <a:srgbClr val="262626"/>
                </a:solidFill>
                <a:latin typeface="Bookman Old Style" panose="02050604050505020204"/>
                <a:ea typeface="Bookman Old Style" panose="02050604050505020204"/>
                <a:cs typeface="Bookman Old Style" panose="02050604050505020204"/>
              </a:rPr>
              <a:t>or Rejected</a:t>
            </a:r>
          </a:p>
        </p:txBody>
      </p:sp>
      <p:sp>
        <p:nvSpPr>
          <p:cNvPr id="8" name="TextBox 7"/>
          <p:cNvSpPr txBox="1"/>
          <p:nvPr/>
        </p:nvSpPr>
        <p:spPr>
          <a:xfrm>
            <a:off x="7071000" y="1682360"/>
            <a:ext cx="250000" cy="335280"/>
          </a:xfrm>
          <a:prstGeom prst="rect">
            <a:avLst/>
          </a:prstGeom>
          <a:noFill/>
        </p:spPr>
        <p:txBody>
          <a:bodyPr wrap="none" anchor="ctr" lIns="0" rIns="0">
            <a:spAutoFit/>
          </a:bodyPr>
          <a:lstStyle/>
          <a:p>
            <a:pPr algn="ctr"/>
            <a:r>
              <a:rPr sz="2000" b="1" i="0">
                <a:solidFill>
                  <a:srgbClr val="0070C0"/>
                </a:solidFill>
                <a:latin typeface="Bookman Old Style" panose="02050604050505020204"/>
                <a:ea typeface="Bookman Old Style" panose="02050604050505020204"/>
                <a:cs typeface="Bookman Old Style" panose="02050604050505020204"/>
              </a:rPr>
              <a:t>→</a:t>
            </a:r>
          </a:p>
        </p:txBody>
      </p:sp>
      <p:sp>
        <p:nvSpPr>
          <p:cNvPr id="9" name="Rounded Rectangle 8"/>
          <p:cNvSpPr/>
          <p:nvPr/>
        </p:nvSpPr>
        <p:spPr>
          <a:xfrm>
            <a:off x="7326000" y="1300000"/>
            <a:ext cx="1882000" cy="1100000"/>
          </a:xfrm>
          <a:prstGeom prst="roundRect">
            <a:avLst>
              <a:gd name="adj" fmla="val 9000"/>
            </a:avLst>
          </a:prstGeom>
          <a:solidFill>
            <a:srgbClr val="EAF3FB"/>
          </a:solidFill>
          <a:ln>
            <a:no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100000" bIns="70000"/>
          <a:lstStyle/>
          <a:p>
            <a:pPr algn="ctr">
              <a:spcAft>
                <a:spcPts val="300"/>
              </a:spcAft>
              <a:buNone/>
            </a:pPr>
            <a:r>
              <a:rPr sz="1300" b="1" i="0">
                <a:solidFill>
                  <a:srgbClr val="C00000"/>
                </a:solidFill>
                <a:latin typeface="Bookman Old Style" panose="02050604050505020204"/>
                <a:ea typeface="Bookman Old Style" panose="02050604050505020204"/>
                <a:cs typeface="Bookman Old Style" panose="02050604050505020204"/>
              </a:rPr>
              <a:t>Friends List</a:t>
            </a:r>
          </a:p>
          <a:p>
            <a:pPr algn="ctr">
              <a:spcAft>
                <a:spcPts val="300"/>
              </a:spcAft>
              <a:buNone/>
            </a:pPr>
            <a:r>
              <a:rPr sz="1100" b="0" i="0">
                <a:solidFill>
                  <a:srgbClr val="262626"/>
                </a:solidFill>
                <a:latin typeface="Bookman Old Style" panose="02050604050505020204"/>
                <a:ea typeface="Bookman Old Style" panose="02050604050505020204"/>
                <a:cs typeface="Bookman Old Style" panose="02050604050505020204"/>
              </a:rPr>
              <a:t>Live notification sent</a:t>
            </a:r>
          </a:p>
        </p:txBody>
      </p:sp>
      <p:sp>
        <p:nvSpPr>
          <p:cNvPr id="10" name="TextBox 9"/>
          <p:cNvSpPr txBox="1"/>
          <p:nvPr/>
        </p:nvSpPr>
        <p:spPr>
          <a:xfrm>
            <a:off x="9213000" y="1682360"/>
            <a:ext cx="250000" cy="335280"/>
          </a:xfrm>
          <a:prstGeom prst="rect">
            <a:avLst/>
          </a:prstGeom>
          <a:noFill/>
        </p:spPr>
        <p:txBody>
          <a:bodyPr wrap="none" anchor="ctr" lIns="0" rIns="0">
            <a:spAutoFit/>
          </a:bodyPr>
          <a:lstStyle/>
          <a:p>
            <a:pPr algn="ctr"/>
            <a:r>
              <a:rPr sz="2000" b="1" i="0">
                <a:solidFill>
                  <a:srgbClr val="0070C0"/>
                </a:solidFill>
                <a:latin typeface="Bookman Old Style" panose="02050604050505020204"/>
                <a:ea typeface="Bookman Old Style" panose="02050604050505020204"/>
                <a:cs typeface="Bookman Old Style" panose="02050604050505020204"/>
              </a:rPr>
              <a:t>→</a:t>
            </a:r>
          </a:p>
        </p:txBody>
      </p:sp>
      <p:sp>
        <p:nvSpPr>
          <p:cNvPr id="11" name="Rounded Rectangle 10"/>
          <p:cNvSpPr/>
          <p:nvPr/>
        </p:nvSpPr>
        <p:spPr>
          <a:xfrm>
            <a:off x="9468000" y="1300000"/>
            <a:ext cx="1882000" cy="1100000"/>
          </a:xfrm>
          <a:prstGeom prst="roundRect">
            <a:avLst>
              <a:gd name="adj" fmla="val 9000"/>
            </a:avLst>
          </a:prstGeom>
          <a:solidFill>
            <a:srgbClr val="EAF3FB"/>
          </a:solidFill>
          <a:ln>
            <a:no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100000" bIns="70000"/>
          <a:lstStyle/>
          <a:p>
            <a:pPr algn="ctr">
              <a:spcAft>
                <a:spcPts val="300"/>
              </a:spcAft>
              <a:buNone/>
            </a:pPr>
            <a:r>
              <a:rPr sz="1300" b="1" i="0">
                <a:solidFill>
                  <a:srgbClr val="C00000"/>
                </a:solidFill>
                <a:latin typeface="Bookman Old Style" panose="02050604050505020204"/>
                <a:ea typeface="Bookman Old Style" panose="02050604050505020204"/>
                <a:cs typeface="Bookman Old Style" panose="02050604050505020204"/>
              </a:rPr>
              <a:t>Unfriend</a:t>
            </a:r>
          </a:p>
          <a:p>
            <a:pPr algn="ctr">
              <a:spcAft>
                <a:spcPts val="300"/>
              </a:spcAft>
              <a:buNone/>
            </a:pPr>
            <a:r>
              <a:rPr sz="1100" b="0" i="0">
                <a:solidFill>
                  <a:srgbClr val="262626"/>
                </a:solidFill>
                <a:latin typeface="Bookman Old Style" panose="02050604050505020204"/>
                <a:ea typeface="Bookman Old Style" panose="02050604050505020204"/>
                <a:cs typeface="Bookman Old Style" panose="02050604050505020204"/>
              </a:rPr>
              <a:t>Relationship removed</a:t>
            </a:r>
          </a:p>
        </p:txBody>
      </p:sp>
      <p:sp>
        <p:nvSpPr>
          <p:cNvPr id="12" name="Rounded Rectangle 11"/>
          <p:cNvSpPr/>
          <p:nvPr/>
        </p:nvSpPr>
        <p:spPr>
          <a:xfrm>
            <a:off x="900000" y="2650000"/>
            <a:ext cx="5100000" cy="3100000"/>
          </a:xfrm>
          <a:prstGeom prst="roundRect">
            <a:avLst>
              <a:gd name="adj" fmla="val 6000"/>
            </a:avLst>
          </a:prstGeom>
          <a:solidFill>
            <a:srgbClr val="EAF3FB"/>
          </a:solidFill>
          <a:ln>
            <a:noFill/>
          </a:ln>
        </p:spPr>
        <p:style>
          <a:lnRef idx="1">
            <a:schemeClr val="accent1"/>
          </a:lnRef>
          <a:fillRef idx="3">
            <a:schemeClr val="accent1"/>
          </a:fillRef>
          <a:effectRef idx="2">
            <a:schemeClr val="accent1"/>
          </a:effectRef>
          <a:fontRef idx="minor">
            <a:schemeClr val="lt1"/>
          </a:fontRef>
        </p:style>
        <p:txBody>
          <a:bodyPr rtlCol="0" anchor="t" wrap="square" lIns="140000" rIns="140000" tIns="100000" bIns="70000"/>
          <a:lstStyle/>
          <a:p>
            <a:pPr algn="l">
              <a:spcAft>
                <a:spcPts val="300"/>
              </a:spcAft>
              <a:buNone/>
            </a:pPr>
            <a:r>
              <a:rPr sz="1700" b="1" i="0">
                <a:solidFill>
                  <a:srgbClr val="C00000"/>
                </a:solidFill>
                <a:latin typeface="Bookman Old Style" panose="02050604050505020204"/>
                <a:ea typeface="Bookman Old Style" panose="02050604050505020204"/>
                <a:cs typeface="Bookman Old Style" panose="02050604050505020204"/>
              </a:rPr>
              <a:t>Friendship System</a:t>
            </a:r>
          </a:p>
          <a:p>
            <a:pPr algn="l" marL="190000" indent="-190000">
              <a:spcAft>
                <a:spcPts val="300"/>
              </a:spcAft>
              <a:buFont typeface="Arial"/>
              <a:buChar char="•"/>
            </a:pPr>
            <a:r>
              <a:rPr sz="1500" b="0" i="0">
                <a:solidFill>
                  <a:srgbClr val="262626"/>
                </a:solidFill>
                <a:latin typeface="Bookman Old Style" panose="02050604050505020204"/>
                <a:ea typeface="Bookman Old Style" panose="02050604050505020204"/>
                <a:cs typeface="Bookman Old Style" panose="02050604050505020204"/>
              </a:rPr>
              <a:t>Friendship JPA entity manages bidirectional relationships</a:t>
            </a:r>
          </a:p>
          <a:p>
            <a:pPr algn="l" marL="190000" indent="-190000">
              <a:spcAft>
                <a:spcPts val="300"/>
              </a:spcAft>
              <a:buFont typeface="Arial"/>
              <a:buChar char="•"/>
            </a:pPr>
            <a:r>
              <a:rPr sz="1500" b="0" i="0">
                <a:solidFill>
                  <a:srgbClr val="262626"/>
                </a:solidFill>
                <a:latin typeface="Bookman Old Style" panose="02050604050505020204"/>
                <a:ea typeface="Bookman Old Style" panose="02050604050505020204"/>
                <a:cs typeface="Bookman Old Style" panose="02050604050505020204"/>
              </a:rPr>
              <a:t>Status states: PENDING, ACCEPTED, REJECTED</a:t>
            </a:r>
          </a:p>
          <a:p>
            <a:pPr algn="l" marL="190000" indent="-190000">
              <a:spcAft>
                <a:spcPts val="300"/>
              </a:spcAft>
              <a:buFont typeface="Arial"/>
              <a:buChar char="•"/>
            </a:pPr>
            <a:r>
              <a:rPr sz="1500" b="0" i="0">
                <a:solidFill>
                  <a:srgbClr val="262626"/>
                </a:solidFill>
                <a:latin typeface="Bookman Old Style" panose="02050604050505020204"/>
                <a:ea typeface="Bookman Old Style" panose="02050604050505020204"/>
                <a:cs typeface="Bookman Old Style" panose="02050604050505020204"/>
              </a:rPr>
              <a:t>Send, accept, reject and unfriend operations</a:t>
            </a:r>
          </a:p>
          <a:p>
            <a:pPr algn="l" marL="190000" indent="-190000">
              <a:spcAft>
                <a:spcPts val="300"/>
              </a:spcAft>
              <a:buFont typeface="Arial"/>
              <a:buChar char="•"/>
            </a:pPr>
            <a:r>
              <a:rPr sz="1500" b="0" i="0">
                <a:solidFill>
                  <a:srgbClr val="262626"/>
                </a:solidFill>
                <a:latin typeface="Bookman Old Style" panose="02050604050505020204"/>
                <a:ea typeface="Bookman Old Style" panose="02050604050505020204"/>
                <a:cs typeface="Bookman Old Style" panose="02050604050505020204"/>
              </a:rPr>
              <a:t>JPQL @Modifying queries for status updates</a:t>
            </a:r>
          </a:p>
          <a:p>
            <a:pPr algn="l" marL="190000" indent="-190000">
              <a:spcAft>
                <a:spcPts val="300"/>
              </a:spcAft>
              <a:buFont typeface="Arial"/>
              <a:buChar char="•"/>
            </a:pPr>
            <a:r>
              <a:rPr sz="1500" b="0" i="0">
                <a:solidFill>
                  <a:srgbClr val="262626"/>
                </a:solidFill>
                <a:latin typeface="Bookman Old Style" panose="02050604050505020204"/>
                <a:ea typeface="Bookman Old Style" panose="02050604050505020204"/>
                <a:cs typeface="Bookman Old Style" panose="02050604050505020204"/>
              </a:rPr>
              <a:t>STOMP notification dispatched live when a request is accepted</a:t>
            </a:r>
          </a:p>
        </p:txBody>
      </p:sp>
      <p:sp>
        <p:nvSpPr>
          <p:cNvPr id="13" name="SCREENSHOT PLACEHOLDER - delete after inserting image"/>
          <p:cNvSpPr/>
          <p:nvPr/>
        </p:nvSpPr>
        <p:spPr>
          <a:xfrm>
            <a:off x="6250000" y="2650000"/>
            <a:ext cx="2450000" cy="2700000"/>
          </a:xfrm>
          <a:prstGeom prst="rect">
            <a:avLst/>
          </a:prstGeom>
          <a:noFill/>
          <a:ln w="12700">
            <a:solidFill>
              <a:srgbClr val="A6A6A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0" i="0">
                <a:solidFill>
                  <a:srgbClr val="A6A6A6"/>
                </a:solidFill>
                <a:latin typeface="Bookman Old Style" panose="02050604050505020204"/>
                <a:ea typeface="Bookman Old Style" panose="02050604050505020204"/>
                <a:cs typeface="Bookman Old Style" panose="02050604050505020204"/>
              </a:rPr>
              <a:t>[ Screenshot here ]</a:t>
            </a:r>
          </a:p>
        </p:txBody>
      </p:sp>
      <p:sp>
        <p:nvSpPr>
          <p:cNvPr id="14" name="TextBox 13"/>
          <p:cNvSpPr txBox="1"/>
          <p:nvPr/>
        </p:nvSpPr>
        <p:spPr>
          <a:xfrm>
            <a:off x="6150000" y="5380000"/>
            <a:ext cx="2650000" cy="274320"/>
          </a:xfrm>
          <a:prstGeom prst="rect">
            <a:avLst/>
          </a:prstGeom>
          <a:noFill/>
        </p:spPr>
        <p:txBody>
          <a:bodyPr wrap="square" anchor="t">
            <a:spAutoFit/>
          </a:bodyPr>
          <a:lstStyle/>
          <a:p>
            <a:pPr algn="l">
              <a:spcAft>
                <a:spcPts val="300"/>
              </a:spcAft>
              <a:buNone/>
            </a:pPr>
            <a:r>
              <a:rPr sz="1200" b="0" i="0">
                <a:solidFill>
                  <a:srgbClr val="595959"/>
                </a:solidFill>
                <a:latin typeface="Bookman Old Style" panose="02050604050505020204"/>
                <a:ea typeface="Bookman Old Style" panose="02050604050505020204"/>
                <a:cs typeface="Bookman Old Style" panose="02050604050505020204"/>
              </a:rPr>
              <a:t>Friends &amp; pending requests</a:t>
            </a:r>
          </a:p>
        </p:txBody>
      </p:sp>
      <p:sp>
        <p:nvSpPr>
          <p:cNvPr id="15" name="SCREENSHOT PLACEHOLDER - delete after inserting image"/>
          <p:cNvSpPr/>
          <p:nvPr/>
        </p:nvSpPr>
        <p:spPr>
          <a:xfrm>
            <a:off x="8900000" y="2650000"/>
            <a:ext cx="2450000" cy="2700000"/>
          </a:xfrm>
          <a:prstGeom prst="rect">
            <a:avLst/>
          </a:prstGeom>
          <a:noFill/>
          <a:ln w="12700">
            <a:solidFill>
              <a:srgbClr val="A6A6A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0" i="0">
                <a:solidFill>
                  <a:srgbClr val="A6A6A6"/>
                </a:solidFill>
                <a:latin typeface="Bookman Old Style" panose="02050604050505020204"/>
                <a:ea typeface="Bookman Old Style" panose="02050604050505020204"/>
                <a:cs typeface="Bookman Old Style" panose="02050604050505020204"/>
              </a:rPr>
              <a:t>[ Screenshot here ]</a:t>
            </a:r>
          </a:p>
        </p:txBody>
      </p:sp>
      <p:sp>
        <p:nvSpPr>
          <p:cNvPr id="16" name="TextBox 15"/>
          <p:cNvSpPr txBox="1"/>
          <p:nvPr/>
        </p:nvSpPr>
        <p:spPr>
          <a:xfrm>
            <a:off x="8800000" y="5380000"/>
            <a:ext cx="2650000" cy="274320"/>
          </a:xfrm>
          <a:prstGeom prst="rect">
            <a:avLst/>
          </a:prstGeom>
          <a:noFill/>
        </p:spPr>
        <p:txBody>
          <a:bodyPr wrap="square" anchor="t">
            <a:spAutoFit/>
          </a:bodyPr>
          <a:lstStyle/>
          <a:p>
            <a:pPr algn="l">
              <a:spcAft>
                <a:spcPts val="300"/>
              </a:spcAft>
              <a:buNone/>
            </a:pPr>
            <a:r>
              <a:rPr sz="1200" b="0" i="0">
                <a:solidFill>
                  <a:srgbClr val="595959"/>
                </a:solidFill>
                <a:latin typeface="Bookman Old Style" panose="02050604050505020204"/>
                <a:ea typeface="Bookman Old Style" panose="02050604050505020204"/>
                <a:cs typeface="Bookman Old Style" panose="02050604050505020204"/>
              </a:rPr>
              <a:t>Real-time notification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00000" y="280000"/>
            <a:ext cx="9200000" cy="518160"/>
          </a:xfrm>
          <a:prstGeom prst="rect">
            <a:avLst/>
          </a:prstGeom>
          <a:noFill/>
        </p:spPr>
        <p:txBody>
          <a:bodyPr wrap="square" anchor="ctr">
            <a:spAutoFit/>
          </a:bodyPr>
          <a:lstStyle/>
          <a:p>
            <a:pPr algn="ctr"/>
            <a:r>
              <a:rPr sz="2800" b="1" i="0">
                <a:solidFill>
                  <a:srgbClr val="0070C0"/>
                </a:solidFill>
                <a:latin typeface="Bookman Old Style" panose="02050604050505020204"/>
                <a:ea typeface="Bookman Old Style" panose="02050604050505020204"/>
                <a:cs typeface="Bookman Old Style" panose="02050604050505020204"/>
              </a:rPr>
              <a:t>Module 6: Real-Time Chat</a:t>
            </a:r>
          </a:p>
        </p:txBody>
      </p:sp>
      <p:sp>
        <p:nvSpPr>
          <p:cNvPr id="3" name="Rounded Rectangle 2"/>
          <p:cNvSpPr/>
          <p:nvPr/>
        </p:nvSpPr>
        <p:spPr>
          <a:xfrm>
            <a:off x="900000" y="1300000"/>
            <a:ext cx="1850000" cy="1000000"/>
          </a:xfrm>
          <a:prstGeom prst="roundRect">
            <a:avLst>
              <a:gd name="adj" fmla="val 9000"/>
            </a:avLst>
          </a:prstGeom>
          <a:solidFill>
            <a:srgbClr val="EAF3FB"/>
          </a:solidFill>
          <a:ln>
            <a:no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100000" bIns="70000"/>
          <a:lstStyle/>
          <a:p>
            <a:pPr algn="ctr">
              <a:spcAft>
                <a:spcPts val="300"/>
              </a:spcAft>
              <a:buNone/>
            </a:pPr>
            <a:r>
              <a:rPr sz="1300" b="1" i="0">
                <a:solidFill>
                  <a:srgbClr val="C00000"/>
                </a:solidFill>
                <a:latin typeface="Bookman Old Style" panose="02050604050505020204"/>
                <a:ea typeface="Bookman Old Style" panose="02050604050505020204"/>
                <a:cs typeface="Bookman Old Style" panose="02050604050505020204"/>
              </a:rPr>
              <a:t>Client</a:t>
            </a:r>
          </a:p>
          <a:p>
            <a:pPr algn="ctr">
              <a:spcAft>
                <a:spcPts val="300"/>
              </a:spcAft>
              <a:buNone/>
            </a:pPr>
            <a:r>
              <a:rPr sz="1100" b="0" i="0">
                <a:solidFill>
                  <a:srgbClr val="262626"/>
                </a:solidFill>
                <a:latin typeface="Bookman Old Style" panose="02050604050505020204"/>
                <a:ea typeface="Bookman Old Style" panose="02050604050505020204"/>
                <a:cs typeface="Bookman Old Style" panose="02050604050505020204"/>
              </a:rPr>
              <a:t>STOMP message</a:t>
            </a:r>
          </a:p>
        </p:txBody>
      </p:sp>
      <p:sp>
        <p:nvSpPr>
          <p:cNvPr id="4" name="TextBox 3"/>
          <p:cNvSpPr txBox="1"/>
          <p:nvPr/>
        </p:nvSpPr>
        <p:spPr>
          <a:xfrm>
            <a:off x="2775000" y="1632360"/>
            <a:ext cx="250000" cy="335280"/>
          </a:xfrm>
          <a:prstGeom prst="rect">
            <a:avLst/>
          </a:prstGeom>
          <a:noFill/>
        </p:spPr>
        <p:txBody>
          <a:bodyPr wrap="none" anchor="ctr" lIns="0" rIns="0">
            <a:spAutoFit/>
          </a:bodyPr>
          <a:lstStyle/>
          <a:p>
            <a:pPr algn="ctr"/>
            <a:r>
              <a:rPr sz="2000" b="1" i="0">
                <a:solidFill>
                  <a:srgbClr val="0070C0"/>
                </a:solidFill>
                <a:latin typeface="Bookman Old Style" panose="02050604050505020204"/>
                <a:ea typeface="Bookman Old Style" panose="02050604050505020204"/>
                <a:cs typeface="Bookman Old Style" panose="02050604050505020204"/>
              </a:rPr>
              <a:t>→</a:t>
            </a:r>
          </a:p>
        </p:txBody>
      </p:sp>
      <p:sp>
        <p:nvSpPr>
          <p:cNvPr id="5" name="Rounded Rectangle 4"/>
          <p:cNvSpPr/>
          <p:nvPr/>
        </p:nvSpPr>
        <p:spPr>
          <a:xfrm>
            <a:off x="3050000" y="1300000"/>
            <a:ext cx="1850000" cy="1000000"/>
          </a:xfrm>
          <a:prstGeom prst="roundRect">
            <a:avLst>
              <a:gd name="adj" fmla="val 9000"/>
            </a:avLst>
          </a:prstGeom>
          <a:solidFill>
            <a:srgbClr val="EAF3FB"/>
          </a:solidFill>
          <a:ln>
            <a:no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100000" bIns="70000"/>
          <a:lstStyle/>
          <a:p>
            <a:pPr algn="ctr">
              <a:spcAft>
                <a:spcPts val="300"/>
              </a:spcAft>
              <a:buNone/>
            </a:pPr>
            <a:r>
              <a:rPr sz="1300" b="1" i="0">
                <a:solidFill>
                  <a:srgbClr val="C00000"/>
                </a:solidFill>
                <a:latin typeface="Bookman Old Style" panose="02050604050505020204"/>
                <a:ea typeface="Bookman Old Style" panose="02050604050505020204"/>
                <a:cs typeface="Bookman Old Style" panose="02050604050505020204"/>
              </a:rPr>
              <a:t>/app/chat.send</a:t>
            </a:r>
          </a:p>
          <a:p>
            <a:pPr algn="ctr">
              <a:spcAft>
                <a:spcPts val="300"/>
              </a:spcAft>
              <a:buNone/>
            </a:pPr>
            <a:r>
              <a:rPr sz="1100" b="0" i="0">
                <a:solidFill>
                  <a:srgbClr val="262626"/>
                </a:solidFill>
                <a:latin typeface="Bookman Old Style" panose="02050604050505020204"/>
                <a:ea typeface="Bookman Old Style" panose="02050604050505020204"/>
                <a:cs typeface="Bookman Old Style" panose="02050604050505020204"/>
              </a:rPr>
              <a:t>Publish destination</a:t>
            </a:r>
          </a:p>
        </p:txBody>
      </p:sp>
      <p:sp>
        <p:nvSpPr>
          <p:cNvPr id="6" name="TextBox 5"/>
          <p:cNvSpPr txBox="1"/>
          <p:nvPr/>
        </p:nvSpPr>
        <p:spPr>
          <a:xfrm>
            <a:off x="4925000" y="1632360"/>
            <a:ext cx="250000" cy="335280"/>
          </a:xfrm>
          <a:prstGeom prst="rect">
            <a:avLst/>
          </a:prstGeom>
          <a:noFill/>
        </p:spPr>
        <p:txBody>
          <a:bodyPr wrap="none" anchor="ctr" lIns="0" rIns="0">
            <a:spAutoFit/>
          </a:bodyPr>
          <a:lstStyle/>
          <a:p>
            <a:pPr algn="ctr"/>
            <a:r>
              <a:rPr sz="2000" b="1" i="0">
                <a:solidFill>
                  <a:srgbClr val="0070C0"/>
                </a:solidFill>
                <a:latin typeface="Bookman Old Style" panose="02050604050505020204"/>
                <a:ea typeface="Bookman Old Style" panose="02050604050505020204"/>
                <a:cs typeface="Bookman Old Style" panose="02050604050505020204"/>
              </a:rPr>
              <a:t>→</a:t>
            </a:r>
          </a:p>
        </p:txBody>
      </p:sp>
      <p:sp>
        <p:nvSpPr>
          <p:cNvPr id="7" name="Rounded Rectangle 6"/>
          <p:cNvSpPr/>
          <p:nvPr/>
        </p:nvSpPr>
        <p:spPr>
          <a:xfrm>
            <a:off x="5200000" y="1300000"/>
            <a:ext cx="1850000" cy="1000000"/>
          </a:xfrm>
          <a:prstGeom prst="roundRect">
            <a:avLst>
              <a:gd name="adj" fmla="val 9000"/>
            </a:avLst>
          </a:prstGeom>
          <a:solidFill>
            <a:srgbClr val="EAF3FB"/>
          </a:solidFill>
          <a:ln>
            <a:no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100000" bIns="70000"/>
          <a:lstStyle/>
          <a:p>
            <a:pPr algn="ctr">
              <a:spcAft>
                <a:spcPts val="300"/>
              </a:spcAft>
              <a:buNone/>
            </a:pPr>
            <a:r>
              <a:rPr sz="1300" b="1" i="0">
                <a:solidFill>
                  <a:srgbClr val="C00000"/>
                </a:solidFill>
                <a:latin typeface="Bookman Old Style" panose="02050604050505020204"/>
                <a:ea typeface="Bookman Old Style" panose="02050604050505020204"/>
                <a:cs typeface="Bookman Old Style" panose="02050604050505020204"/>
              </a:rPr>
              <a:t>ChatModerator</a:t>
            </a:r>
          </a:p>
          <a:p>
            <a:pPr algn="ctr">
              <a:spcAft>
                <a:spcPts val="300"/>
              </a:spcAft>
              <a:buNone/>
            </a:pPr>
            <a:r>
              <a:rPr sz="1100" b="0" i="0">
                <a:solidFill>
                  <a:srgbClr val="262626"/>
                </a:solidFill>
                <a:latin typeface="Bookman Old Style" panose="02050604050505020204"/>
                <a:ea typeface="Bookman Old Style" panose="02050604050505020204"/>
                <a:cs typeface="Bookman Old Style" panose="02050604050505020204"/>
              </a:rPr>
              <a:t>Profanity filter</a:t>
            </a:r>
          </a:p>
        </p:txBody>
      </p:sp>
      <p:sp>
        <p:nvSpPr>
          <p:cNvPr id="8" name="TextBox 7"/>
          <p:cNvSpPr txBox="1"/>
          <p:nvPr/>
        </p:nvSpPr>
        <p:spPr>
          <a:xfrm>
            <a:off x="7075000" y="1632360"/>
            <a:ext cx="250000" cy="335280"/>
          </a:xfrm>
          <a:prstGeom prst="rect">
            <a:avLst/>
          </a:prstGeom>
          <a:noFill/>
        </p:spPr>
        <p:txBody>
          <a:bodyPr wrap="none" anchor="ctr" lIns="0" rIns="0">
            <a:spAutoFit/>
          </a:bodyPr>
          <a:lstStyle/>
          <a:p>
            <a:pPr algn="ctr"/>
            <a:r>
              <a:rPr sz="2000" b="1" i="0">
                <a:solidFill>
                  <a:srgbClr val="0070C0"/>
                </a:solidFill>
                <a:latin typeface="Bookman Old Style" panose="02050604050505020204"/>
                <a:ea typeface="Bookman Old Style" panose="02050604050505020204"/>
                <a:cs typeface="Bookman Old Style" panose="02050604050505020204"/>
              </a:rPr>
              <a:t>→</a:t>
            </a:r>
          </a:p>
        </p:txBody>
      </p:sp>
      <p:sp>
        <p:nvSpPr>
          <p:cNvPr id="9" name="Rounded Rectangle 8"/>
          <p:cNvSpPr/>
          <p:nvPr/>
        </p:nvSpPr>
        <p:spPr>
          <a:xfrm>
            <a:off x="7350000" y="1300000"/>
            <a:ext cx="1850000" cy="1000000"/>
          </a:xfrm>
          <a:prstGeom prst="roundRect">
            <a:avLst>
              <a:gd name="adj" fmla="val 9000"/>
            </a:avLst>
          </a:prstGeom>
          <a:solidFill>
            <a:srgbClr val="EAF3FB"/>
          </a:solidFill>
          <a:ln>
            <a:no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100000" bIns="70000"/>
          <a:lstStyle/>
          <a:p>
            <a:pPr algn="ctr">
              <a:spcAft>
                <a:spcPts val="300"/>
              </a:spcAft>
              <a:buNone/>
            </a:pPr>
            <a:r>
              <a:rPr sz="1300" b="1" i="0">
                <a:solidFill>
                  <a:srgbClr val="C00000"/>
                </a:solidFill>
                <a:latin typeface="Bookman Old Style" panose="02050604050505020204"/>
                <a:ea typeface="Bookman Old Style" panose="02050604050505020204"/>
                <a:cs typeface="Bookman Old Style" panose="02050604050505020204"/>
              </a:rPr>
              <a:t>/topic/room.{id}</a:t>
            </a:r>
          </a:p>
          <a:p>
            <a:pPr algn="ctr">
              <a:spcAft>
                <a:spcPts val="300"/>
              </a:spcAft>
              <a:buNone/>
            </a:pPr>
            <a:r>
              <a:rPr sz="1100" b="0" i="0">
                <a:solidFill>
                  <a:srgbClr val="262626"/>
                </a:solidFill>
                <a:latin typeface="Bookman Old Style" panose="02050604050505020204"/>
                <a:ea typeface="Bookman Old Style" panose="02050604050505020204"/>
                <a:cs typeface="Bookman Old Style" panose="02050604050505020204"/>
              </a:rPr>
              <a:t>Broadcast</a:t>
            </a:r>
          </a:p>
        </p:txBody>
      </p:sp>
      <p:sp>
        <p:nvSpPr>
          <p:cNvPr id="10" name="TextBox 9"/>
          <p:cNvSpPr txBox="1"/>
          <p:nvPr/>
        </p:nvSpPr>
        <p:spPr>
          <a:xfrm>
            <a:off x="9225000" y="1632360"/>
            <a:ext cx="250000" cy="335280"/>
          </a:xfrm>
          <a:prstGeom prst="rect">
            <a:avLst/>
          </a:prstGeom>
          <a:noFill/>
        </p:spPr>
        <p:txBody>
          <a:bodyPr wrap="none" anchor="ctr" lIns="0" rIns="0">
            <a:spAutoFit/>
          </a:bodyPr>
          <a:lstStyle/>
          <a:p>
            <a:pPr algn="ctr"/>
            <a:r>
              <a:rPr sz="2000" b="1" i="0">
                <a:solidFill>
                  <a:srgbClr val="0070C0"/>
                </a:solidFill>
                <a:latin typeface="Bookman Old Style" panose="02050604050505020204"/>
                <a:ea typeface="Bookman Old Style" panose="02050604050505020204"/>
                <a:cs typeface="Bookman Old Style" panose="02050604050505020204"/>
              </a:rPr>
              <a:t>→</a:t>
            </a:r>
          </a:p>
        </p:txBody>
      </p:sp>
      <p:sp>
        <p:nvSpPr>
          <p:cNvPr id="11" name="Rounded Rectangle 10"/>
          <p:cNvSpPr/>
          <p:nvPr/>
        </p:nvSpPr>
        <p:spPr>
          <a:xfrm>
            <a:off x="9500000" y="1300000"/>
            <a:ext cx="1850000" cy="1000000"/>
          </a:xfrm>
          <a:prstGeom prst="roundRect">
            <a:avLst>
              <a:gd name="adj" fmla="val 9000"/>
            </a:avLst>
          </a:prstGeom>
          <a:solidFill>
            <a:srgbClr val="EAF3FB"/>
          </a:solidFill>
          <a:ln>
            <a:no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100000" bIns="70000"/>
          <a:lstStyle/>
          <a:p>
            <a:pPr algn="ctr">
              <a:spcAft>
                <a:spcPts val="300"/>
              </a:spcAft>
              <a:buNone/>
            </a:pPr>
            <a:r>
              <a:rPr sz="1300" b="1" i="0">
                <a:solidFill>
                  <a:srgbClr val="C00000"/>
                </a:solidFill>
                <a:latin typeface="Bookman Old Style" panose="02050604050505020204"/>
                <a:ea typeface="Bookman Old Style" panose="02050604050505020204"/>
                <a:cs typeface="Bookman Old Style" panose="02050604050505020204"/>
              </a:rPr>
              <a:t>Subscribers</a:t>
            </a:r>
          </a:p>
          <a:p>
            <a:pPr algn="ctr">
              <a:spcAft>
                <a:spcPts val="300"/>
              </a:spcAft>
              <a:buNone/>
            </a:pPr>
            <a:r>
              <a:rPr sz="1100" b="0" i="0">
                <a:solidFill>
                  <a:srgbClr val="262626"/>
                </a:solidFill>
                <a:latin typeface="Bookman Old Style" panose="02050604050505020204"/>
                <a:ea typeface="Bookman Old Style" panose="02050604050505020204"/>
                <a:cs typeface="Bookman Old Style" panose="02050604050505020204"/>
              </a:rPr>
              <a:t>Squad / DM users</a:t>
            </a:r>
          </a:p>
        </p:txBody>
      </p:sp>
      <p:sp>
        <p:nvSpPr>
          <p:cNvPr id="12" name="Rounded Rectangle 11"/>
          <p:cNvSpPr/>
          <p:nvPr/>
        </p:nvSpPr>
        <p:spPr>
          <a:xfrm>
            <a:off x="900000" y="2450000"/>
            <a:ext cx="5100000" cy="1400000"/>
          </a:xfrm>
          <a:prstGeom prst="roundRect">
            <a:avLst>
              <a:gd name="adj" fmla="val 8000"/>
            </a:avLst>
          </a:prstGeom>
          <a:solidFill>
            <a:srgbClr val="EAF3FB"/>
          </a:solidFill>
          <a:ln>
            <a:noFill/>
          </a:ln>
        </p:spPr>
        <p:style>
          <a:lnRef idx="1">
            <a:schemeClr val="accent1"/>
          </a:lnRef>
          <a:fillRef idx="3">
            <a:schemeClr val="accent1"/>
          </a:fillRef>
          <a:effectRef idx="2">
            <a:schemeClr val="accent1"/>
          </a:effectRef>
          <a:fontRef idx="minor">
            <a:schemeClr val="lt1"/>
          </a:fontRef>
        </p:style>
        <p:txBody>
          <a:bodyPr rtlCol="0" anchor="t" wrap="square" lIns="140000" rIns="140000" tIns="100000" bIns="70000"/>
          <a:lstStyle/>
          <a:p>
            <a:pPr algn="l">
              <a:spcAft>
                <a:spcPts val="300"/>
              </a:spcAft>
              <a:buNone/>
            </a:pPr>
            <a:r>
              <a:rPr sz="1500" b="1" i="0">
                <a:solidFill>
                  <a:srgbClr val="C00000"/>
                </a:solidFill>
                <a:latin typeface="Bookman Old Style" panose="02050604050505020204"/>
                <a:ea typeface="Bookman Old Style" panose="02050604050505020204"/>
                <a:cs typeface="Bookman Old Style" panose="02050604050505020204"/>
              </a:rPr>
              <a:t>Room Routing</a:t>
            </a:r>
          </a:p>
          <a:p>
            <a:pPr algn="l" marL="190000" indent="-190000">
              <a:spcAft>
                <a:spcPts val="300"/>
              </a:spcAft>
              <a:buFont typeface="Arial"/>
              <a:buChar char="•"/>
            </a:pPr>
            <a:r>
              <a:rPr sz="1300" b="0" i="0">
                <a:solidFill>
                  <a:srgbClr val="262626"/>
                </a:solidFill>
                <a:latin typeface="Bookman Old Style" panose="02050604050505020204"/>
                <a:ea typeface="Bookman Old Style" panose="02050604050505020204"/>
                <a:cs typeface="Bookman Old Style" panose="02050604050505020204"/>
              </a:rPr>
              <a:t>Squad lobby chat: squad_&lt;squadId&gt;</a:t>
            </a:r>
          </a:p>
          <a:p>
            <a:pPr algn="l" marL="190000" indent="-190000">
              <a:spcAft>
                <a:spcPts val="300"/>
              </a:spcAft>
              <a:buFont typeface="Arial"/>
              <a:buChar char="•"/>
            </a:pPr>
            <a:r>
              <a:rPr sz="1300" b="0" i="0">
                <a:solidFill>
                  <a:srgbClr val="262626"/>
                </a:solidFill>
                <a:latin typeface="Bookman Old Style" panose="02050604050505020204"/>
                <a:ea typeface="Bookman Old Style" panose="02050604050505020204"/>
                <a:cs typeface="Bookman Old Style" panose="02050604050505020204"/>
              </a:rPr>
              <a:t>Direct messages: dm_&lt;idA&gt;_&lt;idB&gt;</a:t>
            </a:r>
          </a:p>
        </p:txBody>
      </p:sp>
      <p:sp>
        <p:nvSpPr>
          <p:cNvPr id="13" name="Rounded Rectangle 12"/>
          <p:cNvSpPr/>
          <p:nvPr/>
        </p:nvSpPr>
        <p:spPr>
          <a:xfrm>
            <a:off x="6250000" y="2450000"/>
            <a:ext cx="5100000" cy="1400000"/>
          </a:xfrm>
          <a:prstGeom prst="roundRect">
            <a:avLst>
              <a:gd name="adj" fmla="val 8000"/>
            </a:avLst>
          </a:prstGeom>
          <a:solidFill>
            <a:srgbClr val="EAF3FB"/>
          </a:solidFill>
          <a:ln>
            <a:noFill/>
          </a:ln>
        </p:spPr>
        <p:style>
          <a:lnRef idx="1">
            <a:schemeClr val="accent1"/>
          </a:lnRef>
          <a:fillRef idx="3">
            <a:schemeClr val="accent1"/>
          </a:fillRef>
          <a:effectRef idx="2">
            <a:schemeClr val="accent1"/>
          </a:effectRef>
          <a:fontRef idx="minor">
            <a:schemeClr val="lt1"/>
          </a:fontRef>
        </p:style>
        <p:txBody>
          <a:bodyPr rtlCol="0" anchor="t" wrap="square" lIns="140000" rIns="140000" tIns="100000" bIns="70000"/>
          <a:lstStyle/>
          <a:p>
            <a:pPr algn="l">
              <a:spcAft>
                <a:spcPts val="300"/>
              </a:spcAft>
              <a:buNone/>
            </a:pPr>
            <a:r>
              <a:rPr sz="1500" b="1" i="0">
                <a:solidFill>
                  <a:srgbClr val="C00000"/>
                </a:solidFill>
                <a:latin typeface="Bookman Old Style" panose="02050604050505020204"/>
                <a:ea typeface="Bookman Old Style" panose="02050604050505020204"/>
                <a:cs typeface="Bookman Old Style" panose="02050604050505020204"/>
              </a:rPr>
              <a:t>Moderation &amp; Live Indicators</a:t>
            </a:r>
          </a:p>
          <a:p>
            <a:pPr algn="l" marL="190000" indent="-190000">
              <a:spcAft>
                <a:spcPts val="300"/>
              </a:spcAft>
              <a:buFont typeface="Arial"/>
              <a:buChar char="•"/>
            </a:pPr>
            <a:r>
              <a:rPr sz="1300" b="0" i="0">
                <a:solidFill>
                  <a:srgbClr val="262626"/>
                </a:solidFill>
                <a:latin typeface="Bookman Old Style" panose="02050604050505020204"/>
                <a:ea typeface="Bookman Old Style" panose="02050604050505020204"/>
                <a:cs typeface="Bookman Old Style" panose="02050604050505020204"/>
              </a:rPr>
              <a:t>ChatModerator (setter injection in AppConfig) filters bad words before broadcast</a:t>
            </a:r>
          </a:p>
          <a:p>
            <a:pPr algn="l" marL="190000" indent="-190000">
              <a:spcAft>
                <a:spcPts val="300"/>
              </a:spcAft>
              <a:buFont typeface="Arial"/>
              <a:buChar char="•"/>
            </a:pPr>
            <a:r>
              <a:rPr sz="1300" b="0" i="0">
                <a:solidFill>
                  <a:srgbClr val="262626"/>
                </a:solidFill>
                <a:latin typeface="Bookman Old Style" panose="02050604050505020204"/>
                <a:ea typeface="Bookman Old Style" panose="02050604050505020204"/>
                <a:cs typeface="Bookman Old Style" panose="02050604050505020204"/>
              </a:rPr>
              <a:t>Live typing notifications in chat rooms</a:t>
            </a:r>
          </a:p>
        </p:txBody>
      </p:sp>
      <p:sp>
        <p:nvSpPr>
          <p:cNvPr id="14" name="SCREENSHOT PLACEHOLDER - delete after inserting image"/>
          <p:cNvSpPr/>
          <p:nvPr/>
        </p:nvSpPr>
        <p:spPr>
          <a:xfrm>
            <a:off x="900000" y="4000000"/>
            <a:ext cx="3300000" cy="1700000"/>
          </a:xfrm>
          <a:prstGeom prst="rect">
            <a:avLst/>
          </a:prstGeom>
          <a:noFill/>
          <a:ln w="12700">
            <a:solidFill>
              <a:srgbClr val="A6A6A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0" i="0">
                <a:solidFill>
                  <a:srgbClr val="A6A6A6"/>
                </a:solidFill>
                <a:latin typeface="Bookman Old Style" panose="02050604050505020204"/>
                <a:ea typeface="Bookman Old Style" panose="02050604050505020204"/>
                <a:cs typeface="Bookman Old Style" panose="02050604050505020204"/>
              </a:rPr>
              <a:t>[ Screenshot here ]</a:t>
            </a:r>
          </a:p>
        </p:txBody>
      </p:sp>
      <p:sp>
        <p:nvSpPr>
          <p:cNvPr id="15" name="TextBox 14"/>
          <p:cNvSpPr txBox="1"/>
          <p:nvPr/>
        </p:nvSpPr>
        <p:spPr>
          <a:xfrm>
            <a:off x="800000" y="5730000"/>
            <a:ext cx="3500000" cy="274320"/>
          </a:xfrm>
          <a:prstGeom prst="rect">
            <a:avLst/>
          </a:prstGeom>
          <a:noFill/>
        </p:spPr>
        <p:txBody>
          <a:bodyPr wrap="square" anchor="t">
            <a:spAutoFit/>
          </a:bodyPr>
          <a:lstStyle/>
          <a:p>
            <a:pPr algn="l">
              <a:spcAft>
                <a:spcPts val="300"/>
              </a:spcAft>
              <a:buNone/>
            </a:pPr>
            <a:r>
              <a:rPr sz="1200" b="0" i="0">
                <a:solidFill>
                  <a:srgbClr val="595959"/>
                </a:solidFill>
                <a:latin typeface="Bookman Old Style" panose="02050604050505020204"/>
                <a:ea typeface="Bookman Old Style" panose="02050604050505020204"/>
                <a:cs typeface="Bookman Old Style" panose="02050604050505020204"/>
              </a:rPr>
              <a:t>Squad lobby chat</a:t>
            </a:r>
          </a:p>
        </p:txBody>
      </p:sp>
      <p:sp>
        <p:nvSpPr>
          <p:cNvPr id="16" name="SCREENSHOT PLACEHOLDER - delete after inserting image"/>
          <p:cNvSpPr/>
          <p:nvPr/>
        </p:nvSpPr>
        <p:spPr>
          <a:xfrm>
            <a:off x="4475000" y="4000000"/>
            <a:ext cx="3300000" cy="1700000"/>
          </a:xfrm>
          <a:prstGeom prst="rect">
            <a:avLst/>
          </a:prstGeom>
          <a:noFill/>
          <a:ln w="12700">
            <a:solidFill>
              <a:srgbClr val="A6A6A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0" i="0">
                <a:solidFill>
                  <a:srgbClr val="A6A6A6"/>
                </a:solidFill>
                <a:latin typeface="Bookman Old Style" panose="02050604050505020204"/>
                <a:ea typeface="Bookman Old Style" panose="02050604050505020204"/>
                <a:cs typeface="Bookman Old Style" panose="02050604050505020204"/>
              </a:rPr>
              <a:t>[ Screenshot here ]</a:t>
            </a:r>
          </a:p>
        </p:txBody>
      </p:sp>
      <p:sp>
        <p:nvSpPr>
          <p:cNvPr id="17" name="TextBox 16"/>
          <p:cNvSpPr txBox="1"/>
          <p:nvPr/>
        </p:nvSpPr>
        <p:spPr>
          <a:xfrm>
            <a:off x="4375000" y="5730000"/>
            <a:ext cx="3500000" cy="274320"/>
          </a:xfrm>
          <a:prstGeom prst="rect">
            <a:avLst/>
          </a:prstGeom>
          <a:noFill/>
        </p:spPr>
        <p:txBody>
          <a:bodyPr wrap="square" anchor="t">
            <a:spAutoFit/>
          </a:bodyPr>
          <a:lstStyle/>
          <a:p>
            <a:pPr algn="l">
              <a:spcAft>
                <a:spcPts val="300"/>
              </a:spcAft>
              <a:buNone/>
            </a:pPr>
            <a:r>
              <a:rPr sz="1200" b="0" i="0">
                <a:solidFill>
                  <a:srgbClr val="595959"/>
                </a:solidFill>
                <a:latin typeface="Bookman Old Style" panose="02050604050505020204"/>
                <a:ea typeface="Bookman Old Style" panose="02050604050505020204"/>
                <a:cs typeface="Bookman Old Style" panose="02050604050505020204"/>
              </a:rPr>
              <a:t>Censored message</a:t>
            </a:r>
          </a:p>
        </p:txBody>
      </p:sp>
      <p:sp>
        <p:nvSpPr>
          <p:cNvPr id="18" name="SCREENSHOT PLACEHOLDER - delete after inserting image"/>
          <p:cNvSpPr/>
          <p:nvPr/>
        </p:nvSpPr>
        <p:spPr>
          <a:xfrm>
            <a:off x="8050000" y="4000000"/>
            <a:ext cx="3300000" cy="1700000"/>
          </a:xfrm>
          <a:prstGeom prst="rect">
            <a:avLst/>
          </a:prstGeom>
          <a:noFill/>
          <a:ln w="12700">
            <a:solidFill>
              <a:srgbClr val="A6A6A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0" i="0">
                <a:solidFill>
                  <a:srgbClr val="A6A6A6"/>
                </a:solidFill>
                <a:latin typeface="Bookman Old Style" panose="02050604050505020204"/>
                <a:ea typeface="Bookman Old Style" panose="02050604050505020204"/>
                <a:cs typeface="Bookman Old Style" panose="02050604050505020204"/>
              </a:rPr>
              <a:t>[ Screenshot here ]</a:t>
            </a:r>
          </a:p>
        </p:txBody>
      </p:sp>
      <p:sp>
        <p:nvSpPr>
          <p:cNvPr id="19" name="TextBox 18"/>
          <p:cNvSpPr txBox="1"/>
          <p:nvPr/>
        </p:nvSpPr>
        <p:spPr>
          <a:xfrm>
            <a:off x="7950000" y="5730000"/>
            <a:ext cx="3500000" cy="274320"/>
          </a:xfrm>
          <a:prstGeom prst="rect">
            <a:avLst/>
          </a:prstGeom>
          <a:noFill/>
        </p:spPr>
        <p:txBody>
          <a:bodyPr wrap="square" anchor="t">
            <a:spAutoFit/>
          </a:bodyPr>
          <a:lstStyle/>
          <a:p>
            <a:pPr algn="l">
              <a:spcAft>
                <a:spcPts val="300"/>
              </a:spcAft>
              <a:buNone/>
            </a:pPr>
            <a:r>
              <a:rPr sz="1200" b="0" i="0">
                <a:solidFill>
                  <a:srgbClr val="595959"/>
                </a:solidFill>
                <a:latin typeface="Bookman Old Style" panose="02050604050505020204"/>
                <a:ea typeface="Bookman Old Style" panose="02050604050505020204"/>
                <a:cs typeface="Bookman Old Style" panose="02050604050505020204"/>
              </a:rPr>
              <a:t>Typing indicator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00000" y="280000"/>
            <a:ext cx="9200000" cy="518160"/>
          </a:xfrm>
          <a:prstGeom prst="rect">
            <a:avLst/>
          </a:prstGeom>
          <a:noFill/>
        </p:spPr>
        <p:txBody>
          <a:bodyPr wrap="square" anchor="ctr">
            <a:spAutoFit/>
          </a:bodyPr>
          <a:lstStyle/>
          <a:p>
            <a:pPr algn="ctr"/>
            <a:r>
              <a:rPr sz="2800" b="1" i="0">
                <a:solidFill>
                  <a:srgbClr val="0070C0"/>
                </a:solidFill>
                <a:latin typeface="Bookman Old Style" panose="02050604050505020204"/>
                <a:ea typeface="Bookman Old Style" panose="02050604050505020204"/>
                <a:cs typeface="Bookman Old Style" panose="02050604050505020204"/>
              </a:rPr>
              <a:t>Module 7: SOAP &amp; Analytics</a:t>
            </a:r>
          </a:p>
        </p:txBody>
      </p:sp>
      <p:sp>
        <p:nvSpPr>
          <p:cNvPr id="3" name="Rounded Rectangle 2"/>
          <p:cNvSpPr/>
          <p:nvPr/>
        </p:nvSpPr>
        <p:spPr>
          <a:xfrm>
            <a:off x="900000" y="1350000"/>
            <a:ext cx="5100000" cy="2350000"/>
          </a:xfrm>
          <a:prstGeom prst="roundRect">
            <a:avLst>
              <a:gd name="adj" fmla="val 8000"/>
            </a:avLst>
          </a:prstGeom>
          <a:solidFill>
            <a:srgbClr val="EAF3FB"/>
          </a:solidFill>
          <a:ln>
            <a:noFill/>
          </a:ln>
        </p:spPr>
        <p:style>
          <a:lnRef idx="1">
            <a:schemeClr val="accent1"/>
          </a:lnRef>
          <a:fillRef idx="3">
            <a:schemeClr val="accent1"/>
          </a:fillRef>
          <a:effectRef idx="2">
            <a:schemeClr val="accent1"/>
          </a:effectRef>
          <a:fontRef idx="minor">
            <a:schemeClr val="lt1"/>
          </a:fontRef>
        </p:style>
        <p:txBody>
          <a:bodyPr rtlCol="0" anchor="t" wrap="square" lIns="140000" rIns="140000" tIns="100000" bIns="70000"/>
          <a:lstStyle/>
          <a:p>
            <a:pPr algn="l">
              <a:spcAft>
                <a:spcPts val="300"/>
              </a:spcAft>
              <a:buNone/>
            </a:pPr>
            <a:r>
              <a:rPr sz="1700" b="1" i="0">
                <a:solidFill>
                  <a:srgbClr val="C00000"/>
                </a:solidFill>
                <a:latin typeface="Bookman Old Style" panose="02050604050505020204"/>
                <a:ea typeface="Bookman Old Style" panose="02050604050505020204"/>
                <a:cs typeface="Bookman Old Style" panose="02050604050505020204"/>
              </a:rPr>
              <a:t>Contract-First SOAP Service</a:t>
            </a:r>
          </a:p>
          <a:p>
            <a:pPr algn="l" marL="190000" indent="-190000">
              <a:spcAft>
                <a:spcPts val="300"/>
              </a:spcAft>
              <a:buFont typeface="Arial"/>
              <a:buChar char="•"/>
            </a:pPr>
            <a:r>
              <a:rPr sz="1500" b="0" i="0">
                <a:solidFill>
                  <a:srgbClr val="262626"/>
                </a:solidFill>
                <a:latin typeface="Bookman Old Style" panose="02050604050505020204"/>
                <a:ea typeface="Bookman Old Style" panose="02050604050505020204"/>
                <a:cs typeface="Bookman Old Style" panose="02050604050505020204"/>
              </a:rPr>
              <a:t>PlayerSoapEndpoint handles XML requests mapped via players.xsd</a:t>
            </a:r>
          </a:p>
          <a:p>
            <a:pPr algn="l" marL="190000" indent="-190000">
              <a:spcAft>
                <a:spcPts val="300"/>
              </a:spcAft>
              <a:buFont typeface="Arial"/>
              <a:buChar char="•"/>
            </a:pPr>
            <a:r>
              <a:rPr sz="1500" b="0" i="0">
                <a:solidFill>
                  <a:srgbClr val="262626"/>
                </a:solidFill>
                <a:latin typeface="Bookman Old Style" panose="02050604050505020204"/>
                <a:ea typeface="Bookman Old Style" panose="02050604050505020204"/>
                <a:cs typeface="Bookman Old Style" panose="02050604050505020204"/>
              </a:rPr>
              <a:t>WSDL generated at /soap/players.wsdl</a:t>
            </a:r>
          </a:p>
          <a:p>
            <a:pPr algn="l" marL="190000" indent="-190000">
              <a:spcAft>
                <a:spcPts val="300"/>
              </a:spcAft>
              <a:buFont typeface="Arial"/>
              <a:buChar char="•"/>
            </a:pPr>
            <a:r>
              <a:rPr sz="1500" b="0" i="0">
                <a:solidFill>
                  <a:srgbClr val="262626"/>
                </a:solidFill>
                <a:latin typeface="Bookman Old Style" panose="02050604050505020204"/>
                <a:ea typeface="Bookman Old Style" panose="02050604050505020204"/>
                <a:cs typeface="Bookman Old Style" panose="02050604050505020204"/>
              </a:rPr>
              <a:t>Operations: getPlayerRequest, searchPlayersRequest</a:t>
            </a:r>
          </a:p>
          <a:p>
            <a:pPr algn="l" marL="190000" indent="-190000">
              <a:spcAft>
                <a:spcPts val="300"/>
              </a:spcAft>
              <a:buFont typeface="Arial"/>
              <a:buChar char="•"/>
            </a:pPr>
            <a:r>
              <a:rPr sz="1500" b="0" i="0">
                <a:solidFill>
                  <a:srgbClr val="262626"/>
                </a:solidFill>
                <a:latin typeface="Bookman Old Style" panose="02050604050505020204"/>
                <a:ea typeface="Bookman Old Style" panose="02050604050505020204"/>
                <a:cs typeface="Bookman Old Style" panose="02050604050505020204"/>
              </a:rPr>
              <a:t>Custom @SoapFault error handling</a:t>
            </a:r>
          </a:p>
        </p:txBody>
      </p:sp>
      <p:sp>
        <p:nvSpPr>
          <p:cNvPr id="4" name="Rounded Rectangle 3"/>
          <p:cNvSpPr/>
          <p:nvPr/>
        </p:nvSpPr>
        <p:spPr>
          <a:xfrm>
            <a:off x="6250000" y="1350000"/>
            <a:ext cx="5100000" cy="2350000"/>
          </a:xfrm>
          <a:prstGeom prst="roundRect">
            <a:avLst>
              <a:gd name="adj" fmla="val 8000"/>
            </a:avLst>
          </a:prstGeom>
          <a:solidFill>
            <a:srgbClr val="EAF3FB"/>
          </a:solidFill>
          <a:ln>
            <a:noFill/>
          </a:ln>
        </p:spPr>
        <p:style>
          <a:lnRef idx="1">
            <a:schemeClr val="accent1"/>
          </a:lnRef>
          <a:fillRef idx="3">
            <a:schemeClr val="accent1"/>
          </a:fillRef>
          <a:effectRef idx="2">
            <a:schemeClr val="accent1"/>
          </a:effectRef>
          <a:fontRef idx="minor">
            <a:schemeClr val="lt1"/>
          </a:fontRef>
        </p:style>
        <p:txBody>
          <a:bodyPr rtlCol="0" anchor="t" wrap="square" lIns="140000" rIns="140000" tIns="100000" bIns="70000"/>
          <a:lstStyle/>
          <a:p>
            <a:pPr algn="l">
              <a:spcAft>
                <a:spcPts val="300"/>
              </a:spcAft>
              <a:buNone/>
            </a:pPr>
            <a:r>
              <a:rPr sz="1700" b="1" i="0">
                <a:solidFill>
                  <a:srgbClr val="C00000"/>
                </a:solidFill>
                <a:latin typeface="Bookman Old Style" panose="02050604050505020204"/>
                <a:ea typeface="Bookman Old Style" panose="02050604050505020204"/>
                <a:cs typeface="Bookman Old Style" panose="02050604050505020204"/>
              </a:rPr>
              <a:t>Analytics with JdbcTemplate</a:t>
            </a:r>
          </a:p>
          <a:p>
            <a:pPr algn="l" marL="190000" indent="-190000">
              <a:spcAft>
                <a:spcPts val="300"/>
              </a:spcAft>
              <a:buFont typeface="Arial"/>
              <a:buChar char="•"/>
            </a:pPr>
            <a:r>
              <a:rPr sz="1500" b="0" i="0">
                <a:solidFill>
                  <a:srgbClr val="262626"/>
                </a:solidFill>
                <a:latin typeface="Bookman Old Style" panose="02050604050505020204"/>
                <a:ea typeface="Bookman Old Style" panose="02050604050505020204"/>
                <a:cs typeface="Bookman Old Style" panose="02050604050505020204"/>
              </a:rPr>
              <a:t>PlatformStatsDao runs raw, high-speed analytical SQL</a:t>
            </a:r>
          </a:p>
          <a:p>
            <a:pPr algn="l" marL="190000" indent="-190000">
              <a:spcAft>
                <a:spcPts val="300"/>
              </a:spcAft>
              <a:buFont typeface="Arial"/>
              <a:buChar char="•"/>
            </a:pPr>
            <a:r>
              <a:rPr sz="1500" b="0" i="0">
                <a:solidFill>
                  <a:srgbClr val="262626"/>
                </a:solidFill>
                <a:latin typeface="Bookman Old Style" panose="02050604050505020204"/>
                <a:ea typeface="Bookman Old Style" panose="02050604050505020204"/>
                <a:cs typeface="Bookman Old Style" panose="02050604050505020204"/>
              </a:rPr>
              <a:t>Top games, total squads and active user metrics</a:t>
            </a:r>
          </a:p>
          <a:p>
            <a:pPr algn="l">
              <a:spcAft>
                <a:spcPts val="300"/>
              </a:spcAft>
              <a:buNone/>
            </a:pPr>
            <a:r>
              <a:rPr sz="1400" b="1" i="0">
                <a:solidFill>
                  <a:srgbClr val="0070C0"/>
                </a:solidFill>
                <a:latin typeface="Bookman Old Style" panose="02050604050505020204"/>
                <a:ea typeface="Bookman Old Style" panose="02050604050505020204"/>
                <a:cs typeface="Bookman Old Style" panose="02050604050505020204"/>
              </a:rPr>
              <a:t>GET /api/v1/stats?topGames=5</a:t>
            </a:r>
          </a:p>
        </p:txBody>
      </p:sp>
      <p:sp>
        <p:nvSpPr>
          <p:cNvPr id="5" name="SCREENSHOT PLACEHOLDER - delete after inserting image"/>
          <p:cNvSpPr/>
          <p:nvPr/>
        </p:nvSpPr>
        <p:spPr>
          <a:xfrm>
            <a:off x="900000" y="3900000"/>
            <a:ext cx="3300000" cy="1850000"/>
          </a:xfrm>
          <a:prstGeom prst="rect">
            <a:avLst/>
          </a:prstGeom>
          <a:noFill/>
          <a:ln w="12700">
            <a:solidFill>
              <a:srgbClr val="A6A6A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0" i="0">
                <a:solidFill>
                  <a:srgbClr val="A6A6A6"/>
                </a:solidFill>
                <a:latin typeface="Bookman Old Style" panose="02050604050505020204"/>
                <a:ea typeface="Bookman Old Style" panose="02050604050505020204"/>
                <a:cs typeface="Bookman Old Style" panose="02050604050505020204"/>
              </a:rPr>
              <a:t>[ Screenshot here ]</a:t>
            </a:r>
          </a:p>
        </p:txBody>
      </p:sp>
      <p:sp>
        <p:nvSpPr>
          <p:cNvPr id="6" name="TextBox 5"/>
          <p:cNvSpPr txBox="1"/>
          <p:nvPr/>
        </p:nvSpPr>
        <p:spPr>
          <a:xfrm>
            <a:off x="800000" y="5780000"/>
            <a:ext cx="3500000" cy="274320"/>
          </a:xfrm>
          <a:prstGeom prst="rect">
            <a:avLst/>
          </a:prstGeom>
          <a:noFill/>
        </p:spPr>
        <p:txBody>
          <a:bodyPr wrap="square" anchor="t">
            <a:spAutoFit/>
          </a:bodyPr>
          <a:lstStyle/>
          <a:p>
            <a:pPr algn="l">
              <a:spcAft>
                <a:spcPts val="300"/>
              </a:spcAft>
              <a:buNone/>
            </a:pPr>
            <a:r>
              <a:rPr sz="1200" b="0" i="0">
                <a:solidFill>
                  <a:srgbClr val="595959"/>
                </a:solidFill>
                <a:latin typeface="Bookman Old Style" panose="02050604050505020204"/>
                <a:ea typeface="Bookman Old Style" panose="02050604050505020204"/>
                <a:cs typeface="Bookman Old Style" panose="02050604050505020204"/>
              </a:rPr>
              <a:t>WSDL in browser</a:t>
            </a:r>
          </a:p>
        </p:txBody>
      </p:sp>
      <p:sp>
        <p:nvSpPr>
          <p:cNvPr id="7" name="SCREENSHOT PLACEHOLDER - delete after inserting image"/>
          <p:cNvSpPr/>
          <p:nvPr/>
        </p:nvSpPr>
        <p:spPr>
          <a:xfrm>
            <a:off x="4475000" y="3900000"/>
            <a:ext cx="3300000" cy="1850000"/>
          </a:xfrm>
          <a:prstGeom prst="rect">
            <a:avLst/>
          </a:prstGeom>
          <a:noFill/>
          <a:ln w="12700">
            <a:solidFill>
              <a:srgbClr val="A6A6A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0" i="0">
                <a:solidFill>
                  <a:srgbClr val="A6A6A6"/>
                </a:solidFill>
                <a:latin typeface="Bookman Old Style" panose="02050604050505020204"/>
                <a:ea typeface="Bookman Old Style" panose="02050604050505020204"/>
                <a:cs typeface="Bookman Old Style" panose="02050604050505020204"/>
              </a:rPr>
              <a:t>[ Screenshot here ]</a:t>
            </a:r>
          </a:p>
        </p:txBody>
      </p:sp>
      <p:sp>
        <p:nvSpPr>
          <p:cNvPr id="8" name="TextBox 7"/>
          <p:cNvSpPr txBox="1"/>
          <p:nvPr/>
        </p:nvSpPr>
        <p:spPr>
          <a:xfrm>
            <a:off x="4375000" y="5780000"/>
            <a:ext cx="3500000" cy="274320"/>
          </a:xfrm>
          <a:prstGeom prst="rect">
            <a:avLst/>
          </a:prstGeom>
          <a:noFill/>
        </p:spPr>
        <p:txBody>
          <a:bodyPr wrap="square" anchor="t">
            <a:spAutoFit/>
          </a:bodyPr>
          <a:lstStyle/>
          <a:p>
            <a:pPr algn="l">
              <a:spcAft>
                <a:spcPts val="300"/>
              </a:spcAft>
              <a:buNone/>
            </a:pPr>
            <a:r>
              <a:rPr sz="1200" b="0" i="0">
                <a:solidFill>
                  <a:srgbClr val="595959"/>
                </a:solidFill>
                <a:latin typeface="Bookman Old Style" panose="02050604050505020204"/>
                <a:ea typeface="Bookman Old Style" panose="02050604050505020204"/>
                <a:cs typeface="Bookman Old Style" panose="02050604050505020204"/>
              </a:rPr>
              <a:t>SOAP request &amp; response</a:t>
            </a:r>
          </a:p>
        </p:txBody>
      </p:sp>
      <p:sp>
        <p:nvSpPr>
          <p:cNvPr id="9" name="SCREENSHOT PLACEHOLDER - delete after inserting image"/>
          <p:cNvSpPr/>
          <p:nvPr/>
        </p:nvSpPr>
        <p:spPr>
          <a:xfrm>
            <a:off x="8050000" y="3900000"/>
            <a:ext cx="3300000" cy="1850000"/>
          </a:xfrm>
          <a:prstGeom prst="rect">
            <a:avLst/>
          </a:prstGeom>
          <a:noFill/>
          <a:ln w="12700">
            <a:solidFill>
              <a:srgbClr val="A6A6A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0" i="0">
                <a:solidFill>
                  <a:srgbClr val="A6A6A6"/>
                </a:solidFill>
                <a:latin typeface="Bookman Old Style" panose="02050604050505020204"/>
                <a:ea typeface="Bookman Old Style" panose="02050604050505020204"/>
                <a:cs typeface="Bookman Old Style" panose="02050604050505020204"/>
              </a:rPr>
              <a:t>[ Screenshot here ]</a:t>
            </a:r>
          </a:p>
        </p:txBody>
      </p:sp>
      <p:sp>
        <p:nvSpPr>
          <p:cNvPr id="10" name="TextBox 9"/>
          <p:cNvSpPr txBox="1"/>
          <p:nvPr/>
        </p:nvSpPr>
        <p:spPr>
          <a:xfrm>
            <a:off x="7950000" y="5780000"/>
            <a:ext cx="3500000" cy="274320"/>
          </a:xfrm>
          <a:prstGeom prst="rect">
            <a:avLst/>
          </a:prstGeom>
          <a:noFill/>
        </p:spPr>
        <p:txBody>
          <a:bodyPr wrap="square" anchor="t">
            <a:spAutoFit/>
          </a:bodyPr>
          <a:lstStyle/>
          <a:p>
            <a:pPr algn="l">
              <a:spcAft>
                <a:spcPts val="300"/>
              </a:spcAft>
              <a:buNone/>
            </a:pPr>
            <a:r>
              <a:rPr sz="1200" b="0" i="0">
                <a:solidFill>
                  <a:srgbClr val="595959"/>
                </a:solidFill>
                <a:latin typeface="Bookman Old Style" panose="02050604050505020204"/>
                <a:ea typeface="Bookman Old Style" panose="02050604050505020204"/>
                <a:cs typeface="Bookman Old Style" panose="02050604050505020204"/>
              </a:rPr>
              <a:t>Platform stats JSON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00000" y="280000"/>
            <a:ext cx="9200000" cy="518160"/>
          </a:xfrm>
          <a:prstGeom prst="rect">
            <a:avLst/>
          </a:prstGeom>
          <a:noFill/>
        </p:spPr>
        <p:txBody>
          <a:bodyPr wrap="square" anchor="ctr">
            <a:spAutoFit/>
          </a:bodyPr>
          <a:lstStyle/>
          <a:p>
            <a:pPr algn="ctr"/>
            <a:r>
              <a:rPr sz="2800" b="1" i="0">
                <a:solidFill>
                  <a:srgbClr val="0070C0"/>
                </a:solidFill>
                <a:latin typeface="Bookman Old Style" panose="02050604050505020204"/>
                <a:ea typeface="Bookman Old Style" panose="02050604050505020204"/>
                <a:cs typeface="Bookman Old Style" panose="02050604050505020204"/>
              </a:rPr>
              <a:t>Aspect-Oriented Programming</a:t>
            </a:r>
          </a:p>
        </p:txBody>
      </p:sp>
      <p:sp>
        <p:nvSpPr>
          <p:cNvPr id="3" name="Rounded Rectangle 2"/>
          <p:cNvSpPr/>
          <p:nvPr/>
        </p:nvSpPr>
        <p:spPr>
          <a:xfrm>
            <a:off x="900000" y="1300000"/>
            <a:ext cx="1850000" cy="1050000"/>
          </a:xfrm>
          <a:prstGeom prst="roundRect">
            <a:avLst>
              <a:gd name="adj" fmla="val 9000"/>
            </a:avLst>
          </a:prstGeom>
          <a:solidFill>
            <a:srgbClr val="EAF3FB"/>
          </a:solidFill>
          <a:ln>
            <a:no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100000" bIns="70000"/>
          <a:lstStyle/>
          <a:p>
            <a:pPr algn="ctr">
              <a:spcAft>
                <a:spcPts val="300"/>
              </a:spcAft>
              <a:buNone/>
            </a:pPr>
            <a:r>
              <a:rPr sz="1300" b="1" i="0">
                <a:solidFill>
                  <a:srgbClr val="C00000"/>
                </a:solidFill>
                <a:latin typeface="Bookman Old Style" panose="02050604050505020204"/>
                <a:ea typeface="Bookman Old Style" panose="02050604050505020204"/>
                <a:cs typeface="Bookman Old Style" panose="02050604050505020204"/>
              </a:rPr>
              <a:t>Service Call</a:t>
            </a:r>
          </a:p>
          <a:p>
            <a:pPr algn="ctr">
              <a:spcAft>
                <a:spcPts val="300"/>
              </a:spcAft>
              <a:buNone/>
            </a:pPr>
            <a:r>
              <a:rPr sz="1100" b="0" i="0">
                <a:solidFill>
                  <a:srgbClr val="262626"/>
                </a:solidFill>
                <a:latin typeface="Bookman Old Style" panose="02050604050505020204"/>
                <a:ea typeface="Bookman Old Style" panose="02050604050505020204"/>
                <a:cs typeface="Bookman Old Style" panose="02050604050505020204"/>
              </a:rPr>
              <a:t>Client request</a:t>
            </a:r>
          </a:p>
        </p:txBody>
      </p:sp>
      <p:sp>
        <p:nvSpPr>
          <p:cNvPr id="4" name="TextBox 3"/>
          <p:cNvSpPr txBox="1"/>
          <p:nvPr/>
        </p:nvSpPr>
        <p:spPr>
          <a:xfrm>
            <a:off x="2775000" y="1657360"/>
            <a:ext cx="250000" cy="335280"/>
          </a:xfrm>
          <a:prstGeom prst="rect">
            <a:avLst/>
          </a:prstGeom>
          <a:noFill/>
        </p:spPr>
        <p:txBody>
          <a:bodyPr wrap="none" anchor="ctr" lIns="0" rIns="0">
            <a:spAutoFit/>
          </a:bodyPr>
          <a:lstStyle/>
          <a:p>
            <a:pPr algn="ctr"/>
            <a:r>
              <a:rPr sz="2000" b="1" i="0">
                <a:solidFill>
                  <a:srgbClr val="0070C0"/>
                </a:solidFill>
                <a:latin typeface="Bookman Old Style" panose="02050604050505020204"/>
                <a:ea typeface="Bookman Old Style" panose="02050604050505020204"/>
                <a:cs typeface="Bookman Old Style" panose="02050604050505020204"/>
              </a:rPr>
              <a:t>→</a:t>
            </a:r>
          </a:p>
        </p:txBody>
      </p:sp>
      <p:sp>
        <p:nvSpPr>
          <p:cNvPr id="5" name="Rounded Rectangle 4"/>
          <p:cNvSpPr/>
          <p:nvPr/>
        </p:nvSpPr>
        <p:spPr>
          <a:xfrm>
            <a:off x="3050000" y="1300000"/>
            <a:ext cx="1850000" cy="1050000"/>
          </a:xfrm>
          <a:prstGeom prst="roundRect">
            <a:avLst>
              <a:gd name="adj" fmla="val 9000"/>
            </a:avLst>
          </a:prstGeom>
          <a:solidFill>
            <a:srgbClr val="EAF3FB"/>
          </a:solidFill>
          <a:ln>
            <a:no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100000" bIns="70000"/>
          <a:lstStyle/>
          <a:p>
            <a:pPr algn="ctr">
              <a:spcAft>
                <a:spcPts val="300"/>
              </a:spcAft>
              <a:buNone/>
            </a:pPr>
            <a:r>
              <a:rPr sz="1300" b="1" i="0">
                <a:solidFill>
                  <a:srgbClr val="C00000"/>
                </a:solidFill>
                <a:latin typeface="Bookman Old Style" panose="02050604050505020204"/>
                <a:ea typeface="Bookman Old Style" panose="02050604050505020204"/>
                <a:cs typeface="Bookman Old Style" panose="02050604050505020204"/>
              </a:rPr>
              <a:t>@Before</a:t>
            </a:r>
          </a:p>
          <a:p>
            <a:pPr algn="ctr">
              <a:spcAft>
                <a:spcPts val="300"/>
              </a:spcAft>
              <a:buNone/>
            </a:pPr>
            <a:r>
              <a:rPr sz="1100" b="0" i="0">
                <a:solidFill>
                  <a:srgbClr val="262626"/>
                </a:solidFill>
                <a:latin typeface="Bookman Old Style" panose="02050604050505020204"/>
                <a:ea typeface="Bookman Old Style" panose="02050604050505020204"/>
                <a:cs typeface="Bookman Old Style" panose="02050604050505020204"/>
              </a:rPr>
              <a:t>LoggingAspect</a:t>
            </a:r>
          </a:p>
        </p:txBody>
      </p:sp>
      <p:sp>
        <p:nvSpPr>
          <p:cNvPr id="6" name="TextBox 5"/>
          <p:cNvSpPr txBox="1"/>
          <p:nvPr/>
        </p:nvSpPr>
        <p:spPr>
          <a:xfrm>
            <a:off x="4925000" y="1657360"/>
            <a:ext cx="250000" cy="335280"/>
          </a:xfrm>
          <a:prstGeom prst="rect">
            <a:avLst/>
          </a:prstGeom>
          <a:noFill/>
        </p:spPr>
        <p:txBody>
          <a:bodyPr wrap="none" anchor="ctr" lIns="0" rIns="0">
            <a:spAutoFit/>
          </a:bodyPr>
          <a:lstStyle/>
          <a:p>
            <a:pPr algn="ctr"/>
            <a:r>
              <a:rPr sz="2000" b="1" i="0">
                <a:solidFill>
                  <a:srgbClr val="0070C0"/>
                </a:solidFill>
                <a:latin typeface="Bookman Old Style" panose="02050604050505020204"/>
                <a:ea typeface="Bookman Old Style" panose="02050604050505020204"/>
                <a:cs typeface="Bookman Old Style" panose="02050604050505020204"/>
              </a:rPr>
              <a:t>→</a:t>
            </a:r>
          </a:p>
        </p:txBody>
      </p:sp>
      <p:sp>
        <p:nvSpPr>
          <p:cNvPr id="7" name="Rounded Rectangle 6"/>
          <p:cNvSpPr/>
          <p:nvPr/>
        </p:nvSpPr>
        <p:spPr>
          <a:xfrm>
            <a:off x="5200000" y="1300000"/>
            <a:ext cx="1850000" cy="1050000"/>
          </a:xfrm>
          <a:prstGeom prst="roundRect">
            <a:avLst>
              <a:gd name="adj" fmla="val 9000"/>
            </a:avLst>
          </a:prstGeom>
          <a:solidFill>
            <a:srgbClr val="EAF3FB"/>
          </a:solidFill>
          <a:ln>
            <a:no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100000" bIns="70000"/>
          <a:lstStyle/>
          <a:p>
            <a:pPr algn="ctr">
              <a:spcAft>
                <a:spcPts val="300"/>
              </a:spcAft>
              <a:buNone/>
            </a:pPr>
            <a:r>
              <a:rPr sz="1300" b="1" i="0">
                <a:solidFill>
                  <a:srgbClr val="C00000"/>
                </a:solidFill>
                <a:latin typeface="Bookman Old Style" panose="02050604050505020204"/>
                <a:ea typeface="Bookman Old Style" panose="02050604050505020204"/>
                <a:cs typeface="Bookman Old Style" panose="02050604050505020204"/>
              </a:rPr>
              <a:t>@Around</a:t>
            </a:r>
          </a:p>
          <a:p>
            <a:pPr algn="ctr">
              <a:spcAft>
                <a:spcPts val="300"/>
              </a:spcAft>
              <a:buNone/>
            </a:pPr>
            <a:r>
              <a:rPr sz="1100" b="0" i="0">
                <a:solidFill>
                  <a:srgbClr val="262626"/>
                </a:solidFill>
                <a:latin typeface="Bookman Old Style" panose="02050604050505020204"/>
                <a:ea typeface="Bookman Old Style" panose="02050604050505020204"/>
                <a:cs typeface="Bookman Old Style" panose="02050604050505020204"/>
              </a:rPr>
              <a:t>PerformanceAspect</a:t>
            </a:r>
          </a:p>
        </p:txBody>
      </p:sp>
      <p:sp>
        <p:nvSpPr>
          <p:cNvPr id="8" name="TextBox 7"/>
          <p:cNvSpPr txBox="1"/>
          <p:nvPr/>
        </p:nvSpPr>
        <p:spPr>
          <a:xfrm>
            <a:off x="7075000" y="1657360"/>
            <a:ext cx="250000" cy="335280"/>
          </a:xfrm>
          <a:prstGeom prst="rect">
            <a:avLst/>
          </a:prstGeom>
          <a:noFill/>
        </p:spPr>
        <p:txBody>
          <a:bodyPr wrap="none" anchor="ctr" lIns="0" rIns="0">
            <a:spAutoFit/>
          </a:bodyPr>
          <a:lstStyle/>
          <a:p>
            <a:pPr algn="ctr"/>
            <a:r>
              <a:rPr sz="2000" b="1" i="0">
                <a:solidFill>
                  <a:srgbClr val="0070C0"/>
                </a:solidFill>
                <a:latin typeface="Bookman Old Style" panose="02050604050505020204"/>
                <a:ea typeface="Bookman Old Style" panose="02050604050505020204"/>
                <a:cs typeface="Bookman Old Style" panose="02050604050505020204"/>
              </a:rPr>
              <a:t>→</a:t>
            </a:r>
          </a:p>
        </p:txBody>
      </p:sp>
      <p:sp>
        <p:nvSpPr>
          <p:cNvPr id="9" name="Rounded Rectangle 8"/>
          <p:cNvSpPr/>
          <p:nvPr/>
        </p:nvSpPr>
        <p:spPr>
          <a:xfrm>
            <a:off x="7350000" y="1300000"/>
            <a:ext cx="1850000" cy="1050000"/>
          </a:xfrm>
          <a:prstGeom prst="roundRect">
            <a:avLst>
              <a:gd name="adj" fmla="val 9000"/>
            </a:avLst>
          </a:prstGeom>
          <a:solidFill>
            <a:srgbClr val="EAF3FB"/>
          </a:solidFill>
          <a:ln>
            <a:no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100000" bIns="70000"/>
          <a:lstStyle/>
          <a:p>
            <a:pPr algn="ctr">
              <a:spcAft>
                <a:spcPts val="300"/>
              </a:spcAft>
              <a:buNone/>
            </a:pPr>
            <a:r>
              <a:rPr sz="1300" b="1" i="0">
                <a:solidFill>
                  <a:srgbClr val="C00000"/>
                </a:solidFill>
                <a:latin typeface="Bookman Old Style" panose="02050604050505020204"/>
                <a:ea typeface="Bookman Old Style" panose="02050604050505020204"/>
                <a:cs typeface="Bookman Old Style" panose="02050604050505020204"/>
              </a:rPr>
              <a:t>Service Method</a:t>
            </a:r>
          </a:p>
          <a:p>
            <a:pPr algn="ctr">
              <a:spcAft>
                <a:spcPts val="300"/>
              </a:spcAft>
              <a:buNone/>
            </a:pPr>
            <a:r>
              <a:rPr sz="1100" b="0" i="0">
                <a:solidFill>
                  <a:srgbClr val="262626"/>
                </a:solidFill>
                <a:latin typeface="Bookman Old Style" panose="02050604050505020204"/>
                <a:ea typeface="Bookman Old Style" panose="02050604050505020204"/>
                <a:cs typeface="Bookman Old Style" panose="02050604050505020204"/>
              </a:rPr>
              <a:t>Business logic</a:t>
            </a:r>
          </a:p>
        </p:txBody>
      </p:sp>
      <p:sp>
        <p:nvSpPr>
          <p:cNvPr id="10" name="TextBox 9"/>
          <p:cNvSpPr txBox="1"/>
          <p:nvPr/>
        </p:nvSpPr>
        <p:spPr>
          <a:xfrm>
            <a:off x="9225000" y="1657360"/>
            <a:ext cx="250000" cy="335280"/>
          </a:xfrm>
          <a:prstGeom prst="rect">
            <a:avLst/>
          </a:prstGeom>
          <a:noFill/>
        </p:spPr>
        <p:txBody>
          <a:bodyPr wrap="none" anchor="ctr" lIns="0" rIns="0">
            <a:spAutoFit/>
          </a:bodyPr>
          <a:lstStyle/>
          <a:p>
            <a:pPr algn="ctr"/>
            <a:r>
              <a:rPr sz="2000" b="1" i="0">
                <a:solidFill>
                  <a:srgbClr val="0070C0"/>
                </a:solidFill>
                <a:latin typeface="Bookman Old Style" panose="02050604050505020204"/>
                <a:ea typeface="Bookman Old Style" panose="02050604050505020204"/>
                <a:cs typeface="Bookman Old Style" panose="02050604050505020204"/>
              </a:rPr>
              <a:t>→</a:t>
            </a:r>
          </a:p>
        </p:txBody>
      </p:sp>
      <p:sp>
        <p:nvSpPr>
          <p:cNvPr id="11" name="Rounded Rectangle 10"/>
          <p:cNvSpPr/>
          <p:nvPr/>
        </p:nvSpPr>
        <p:spPr>
          <a:xfrm>
            <a:off x="9500000" y="1300000"/>
            <a:ext cx="1850000" cy="1050000"/>
          </a:xfrm>
          <a:prstGeom prst="roundRect">
            <a:avLst>
              <a:gd name="adj" fmla="val 9000"/>
            </a:avLst>
          </a:prstGeom>
          <a:solidFill>
            <a:srgbClr val="EAF3FB"/>
          </a:solidFill>
          <a:ln>
            <a:no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100000" bIns="70000"/>
          <a:lstStyle/>
          <a:p>
            <a:pPr algn="ctr">
              <a:spcAft>
                <a:spcPts val="300"/>
              </a:spcAft>
              <a:buNone/>
            </a:pPr>
            <a:r>
              <a:rPr sz="1300" b="1" i="0">
                <a:solidFill>
                  <a:srgbClr val="C00000"/>
                </a:solidFill>
                <a:latin typeface="Bookman Old Style" panose="02050604050505020204"/>
                <a:ea typeface="Bookman Old Style" panose="02050604050505020204"/>
                <a:cs typeface="Bookman Old Style" panose="02050604050505020204"/>
              </a:rPr>
              <a:t>@AfterReturning</a:t>
            </a:r>
          </a:p>
          <a:p>
            <a:pPr algn="ctr">
              <a:spcAft>
                <a:spcPts val="300"/>
              </a:spcAft>
              <a:buNone/>
            </a:pPr>
            <a:r>
              <a:rPr sz="1100" b="0" i="0">
                <a:solidFill>
                  <a:srgbClr val="262626"/>
                </a:solidFill>
                <a:latin typeface="Bookman Old Style" panose="02050604050505020204"/>
                <a:ea typeface="Bookman Old Style" panose="02050604050505020204"/>
                <a:cs typeface="Bookman Old Style" panose="02050604050505020204"/>
              </a:rPr>
              <a:t>@AfterThrowing</a:t>
            </a:r>
          </a:p>
        </p:txBody>
      </p:sp>
      <p:sp>
        <p:nvSpPr>
          <p:cNvPr id="12" name="Rounded Rectangle 11"/>
          <p:cNvSpPr/>
          <p:nvPr/>
        </p:nvSpPr>
        <p:spPr>
          <a:xfrm>
            <a:off x="900000" y="2550000"/>
            <a:ext cx="5300000" cy="3250000"/>
          </a:xfrm>
          <a:prstGeom prst="roundRect">
            <a:avLst>
              <a:gd name="adj" fmla="val 6000"/>
            </a:avLst>
          </a:prstGeom>
          <a:solidFill>
            <a:srgbClr val="EAF3FB"/>
          </a:solidFill>
          <a:ln>
            <a:noFill/>
          </a:ln>
        </p:spPr>
        <p:style>
          <a:lnRef idx="1">
            <a:schemeClr val="accent1"/>
          </a:lnRef>
          <a:fillRef idx="3">
            <a:schemeClr val="accent1"/>
          </a:fillRef>
          <a:effectRef idx="2">
            <a:schemeClr val="accent1"/>
          </a:effectRef>
          <a:fontRef idx="minor">
            <a:schemeClr val="lt1"/>
          </a:fontRef>
        </p:style>
        <p:txBody>
          <a:bodyPr rtlCol="0" anchor="t" wrap="square" lIns="140000" rIns="140000" tIns="100000" bIns="70000"/>
          <a:lstStyle/>
          <a:p>
            <a:pPr algn="l">
              <a:spcAft>
                <a:spcPts val="300"/>
              </a:spcAft>
              <a:buNone/>
            </a:pPr>
            <a:r>
              <a:rPr sz="1700" b="1" i="0">
                <a:solidFill>
                  <a:srgbClr val="C00000"/>
                </a:solidFill>
                <a:latin typeface="Bookman Old Style" panose="02050604050505020204"/>
                <a:ea typeface="Bookman Old Style" panose="02050604050505020204"/>
                <a:cs typeface="Bookman Old Style" panose="02050604050505020204"/>
              </a:rPr>
              <a:t>Three Dedicated Aspects</a:t>
            </a:r>
          </a:p>
          <a:p>
            <a:pPr algn="l" marL="190000" indent="-190000">
              <a:spcAft>
                <a:spcPts val="300"/>
              </a:spcAft>
              <a:buFont typeface="Arial"/>
              <a:buChar char="•"/>
            </a:pPr>
            <a:r>
              <a:rPr sz="1500" b="1" i="0">
                <a:solidFill>
                  <a:srgbClr val="262626"/>
                </a:solidFill>
                <a:latin typeface="Bookman Old Style" panose="02050604050505020204"/>
                <a:ea typeface="Bookman Old Style" panose="02050604050505020204"/>
                <a:cs typeface="Bookman Old Style" panose="02050604050505020204"/>
              </a:rPr>
              <a:t>LoggingAspect:</a:t>
            </a:r>
            <a:r>
              <a:rPr sz="1500" b="0" i="0">
                <a:solidFill>
                  <a:srgbClr val="262626"/>
                </a:solidFill>
                <a:latin typeface="Bookman Old Style" panose="02050604050505020204"/>
                <a:ea typeface="Bookman Old Style" panose="02050604050505020204"/>
                <a:cs typeface="Bookman Old Style" panose="02050604050505020204"/>
              </a:rPr>
              <a:t> @Before, @AfterReturning, @AfterThrowing log method inputs, outputs and exceptions</a:t>
            </a:r>
          </a:p>
          <a:p>
            <a:pPr algn="l" marL="190000" indent="-190000">
              <a:spcAft>
                <a:spcPts val="300"/>
              </a:spcAft>
              <a:buFont typeface="Arial"/>
              <a:buChar char="•"/>
            </a:pPr>
            <a:r>
              <a:rPr sz="1500" b="1" i="0">
                <a:solidFill>
                  <a:srgbClr val="262626"/>
                </a:solidFill>
                <a:latin typeface="Bookman Old Style" panose="02050604050505020204"/>
                <a:ea typeface="Bookman Old Style" panose="02050604050505020204"/>
                <a:cs typeface="Bookman Old Style" panose="02050604050505020204"/>
              </a:rPr>
              <a:t>PerformanceAspect:</a:t>
            </a:r>
            <a:r>
              <a:rPr sz="1500" b="0" i="0">
                <a:solidFill>
                  <a:srgbClr val="262626"/>
                </a:solidFill>
                <a:latin typeface="Bookman Old Style" panose="02050604050505020204"/>
                <a:ea typeface="Bookman Old Style" panose="02050604050505020204"/>
                <a:cs typeface="Bookman Old Style" panose="02050604050505020204"/>
              </a:rPr>
              <a:t> custom @TrackExecutionTime annotation with @Around advice logs latency in ms</a:t>
            </a:r>
          </a:p>
          <a:p>
            <a:pPr algn="l" marL="190000" indent="-190000">
              <a:spcAft>
                <a:spcPts val="300"/>
              </a:spcAft>
              <a:buFont typeface="Arial"/>
              <a:buChar char="•"/>
            </a:pPr>
            <a:r>
              <a:rPr sz="1500" b="1" i="0">
                <a:solidFill>
                  <a:srgbClr val="262626"/>
                </a:solidFill>
                <a:latin typeface="Bookman Old Style" panose="02050604050505020204"/>
                <a:ea typeface="Bookman Old Style" panose="02050604050505020204"/>
                <a:cs typeface="Bookman Old Style" panose="02050604050505020204"/>
              </a:rPr>
              <a:t>AuditAspect:</a:t>
            </a:r>
            <a:r>
              <a:rPr sz="1500" b="0" i="0">
                <a:solidFill>
                  <a:srgbClr val="262626"/>
                </a:solidFill>
                <a:latin typeface="Bookman Old Style" panose="02050604050505020204"/>
                <a:ea typeface="Bookman Old Style" panose="02050604050505020204"/>
                <a:cs typeface="Bookman Old Style" panose="02050604050505020204"/>
              </a:rPr>
              <a:t> logs logins, password updates and account deletions to logs/audit.log</a:t>
            </a:r>
          </a:p>
        </p:txBody>
      </p:sp>
      <p:sp>
        <p:nvSpPr>
          <p:cNvPr id="13" name="SCREENSHOT PLACEHOLDER - delete after inserting image"/>
          <p:cNvSpPr/>
          <p:nvPr/>
        </p:nvSpPr>
        <p:spPr>
          <a:xfrm>
            <a:off x="6450000" y="2550000"/>
            <a:ext cx="4900000" cy="2900000"/>
          </a:xfrm>
          <a:prstGeom prst="rect">
            <a:avLst/>
          </a:prstGeom>
          <a:noFill/>
          <a:ln w="12700">
            <a:solidFill>
              <a:srgbClr val="A6A6A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0" i="0">
                <a:solidFill>
                  <a:srgbClr val="A6A6A6"/>
                </a:solidFill>
                <a:latin typeface="Bookman Old Style" panose="02050604050505020204"/>
                <a:ea typeface="Bookman Old Style" panose="02050604050505020204"/>
                <a:cs typeface="Bookman Old Style" panose="02050604050505020204"/>
              </a:rPr>
              <a:t>[ Screenshot here ]</a:t>
            </a:r>
          </a:p>
        </p:txBody>
      </p:sp>
      <p:sp>
        <p:nvSpPr>
          <p:cNvPr id="14" name="TextBox 13"/>
          <p:cNvSpPr txBox="1"/>
          <p:nvPr/>
        </p:nvSpPr>
        <p:spPr>
          <a:xfrm>
            <a:off x="6350000" y="5480000"/>
            <a:ext cx="5100000" cy="274320"/>
          </a:xfrm>
          <a:prstGeom prst="rect">
            <a:avLst/>
          </a:prstGeom>
          <a:noFill/>
        </p:spPr>
        <p:txBody>
          <a:bodyPr wrap="square" anchor="t">
            <a:spAutoFit/>
          </a:bodyPr>
          <a:lstStyle/>
          <a:p>
            <a:pPr algn="l">
              <a:spcAft>
                <a:spcPts val="300"/>
              </a:spcAft>
              <a:buNone/>
            </a:pPr>
            <a:r>
              <a:rPr sz="1200" b="0" i="0">
                <a:solidFill>
                  <a:srgbClr val="595959"/>
                </a:solidFill>
                <a:latin typeface="Bookman Old Style" panose="02050604050505020204"/>
                <a:ea typeface="Bookman Old Style" panose="02050604050505020204"/>
                <a:cs typeface="Bookman Old Style" panose="02050604050505020204"/>
              </a:rPr>
              <a:t>Audit and performance logs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00000" y="280000"/>
            <a:ext cx="9200000" cy="518160"/>
          </a:xfrm>
          <a:prstGeom prst="rect">
            <a:avLst/>
          </a:prstGeom>
          <a:noFill/>
        </p:spPr>
        <p:txBody>
          <a:bodyPr wrap="square" anchor="ctr">
            <a:spAutoFit/>
          </a:bodyPr>
          <a:lstStyle/>
          <a:p>
            <a:pPr algn="ctr"/>
            <a:r>
              <a:rPr sz="2800" b="1" i="0">
                <a:solidFill>
                  <a:srgbClr val="0070C0"/>
                </a:solidFill>
                <a:latin typeface="Bookman Old Style" panose="02050604050505020204"/>
                <a:ea typeface="Bookman Old Style" panose="02050604050505020204"/>
                <a:cs typeface="Bookman Old Style" panose="02050604050505020204"/>
              </a:rPr>
              <a:t>Testing &amp; Data Seeding</a:t>
            </a:r>
          </a:p>
        </p:txBody>
      </p:sp>
      <p:sp>
        <p:nvSpPr>
          <p:cNvPr id="3" name="Rounded Rectangle 2"/>
          <p:cNvSpPr/>
          <p:nvPr/>
        </p:nvSpPr>
        <p:spPr>
          <a:xfrm>
            <a:off x="900000" y="1300000"/>
            <a:ext cx="2450000" cy="900000"/>
          </a:xfrm>
          <a:prstGeom prst="roundRect">
            <a:avLst>
              <a:gd name="adj" fmla="val 10000"/>
            </a:avLst>
          </a:prstGeom>
          <a:solidFill>
            <a:srgbClr val="EAF3FB"/>
          </a:solidFill>
          <a:ln>
            <a:no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100000" bIns="70000"/>
          <a:lstStyle/>
          <a:p>
            <a:pPr algn="ctr">
              <a:spcAft>
                <a:spcPts val="300"/>
              </a:spcAft>
              <a:buNone/>
            </a:pPr>
            <a:r>
              <a:rPr sz="2600" b="1" i="0">
                <a:solidFill>
                  <a:srgbClr val="C00000"/>
                </a:solidFill>
                <a:latin typeface="Bookman Old Style" panose="02050604050505020204"/>
                <a:ea typeface="Bookman Old Style" panose="02050604050505020204"/>
                <a:cs typeface="Bookman Old Style" panose="02050604050505020204"/>
              </a:rPr>
              <a:t>53</a:t>
            </a:r>
          </a:p>
          <a:p>
            <a:pPr algn="ctr">
              <a:spcAft>
                <a:spcPts val="300"/>
              </a:spcAft>
              <a:buNone/>
            </a:pPr>
            <a:r>
              <a:rPr sz="1200" b="0" i="0">
                <a:solidFill>
                  <a:srgbClr val="262626"/>
                </a:solidFill>
                <a:latin typeface="Bookman Old Style" panose="02050604050505020204"/>
                <a:ea typeface="Bookman Old Style" panose="02050604050505020204"/>
                <a:cs typeface="Bookman Old Style" panose="02050604050505020204"/>
              </a:rPr>
              <a:t>Automated tests</a:t>
            </a:r>
          </a:p>
        </p:txBody>
      </p:sp>
      <p:sp>
        <p:nvSpPr>
          <p:cNvPr id="4" name="Rounded Rectangle 3"/>
          <p:cNvSpPr/>
          <p:nvPr/>
        </p:nvSpPr>
        <p:spPr>
          <a:xfrm>
            <a:off x="3566000" y="1300000"/>
            <a:ext cx="2450000" cy="900000"/>
          </a:xfrm>
          <a:prstGeom prst="roundRect">
            <a:avLst>
              <a:gd name="adj" fmla="val 10000"/>
            </a:avLst>
          </a:prstGeom>
          <a:solidFill>
            <a:srgbClr val="EAF3FB"/>
          </a:solidFill>
          <a:ln>
            <a:no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100000" bIns="70000"/>
          <a:lstStyle/>
          <a:p>
            <a:pPr algn="ctr">
              <a:spcAft>
                <a:spcPts val="300"/>
              </a:spcAft>
              <a:buNone/>
            </a:pPr>
            <a:r>
              <a:rPr sz="2600" b="1" i="0">
                <a:solidFill>
                  <a:srgbClr val="C00000"/>
                </a:solidFill>
                <a:latin typeface="Bookman Old Style" panose="02050604050505020204"/>
                <a:ea typeface="Bookman Old Style" panose="02050604050505020204"/>
                <a:cs typeface="Bookman Old Style" panose="02050604050505020204"/>
              </a:rPr>
              <a:t>20</a:t>
            </a:r>
          </a:p>
          <a:p>
            <a:pPr algn="ctr">
              <a:spcAft>
                <a:spcPts val="300"/>
              </a:spcAft>
              <a:buNone/>
            </a:pPr>
            <a:r>
              <a:rPr sz="1200" b="0" i="0">
                <a:solidFill>
                  <a:srgbClr val="262626"/>
                </a:solidFill>
                <a:latin typeface="Bookman Old Style" panose="02050604050505020204"/>
                <a:ea typeface="Bookman Old Style" panose="02050604050505020204"/>
                <a:cs typeface="Bookman Old Style" panose="02050604050505020204"/>
              </a:rPr>
              <a:t>Seeded players</a:t>
            </a:r>
          </a:p>
        </p:txBody>
      </p:sp>
      <p:sp>
        <p:nvSpPr>
          <p:cNvPr id="5" name="Rounded Rectangle 4"/>
          <p:cNvSpPr/>
          <p:nvPr/>
        </p:nvSpPr>
        <p:spPr>
          <a:xfrm>
            <a:off x="6232000" y="1300000"/>
            <a:ext cx="2450000" cy="900000"/>
          </a:xfrm>
          <a:prstGeom prst="roundRect">
            <a:avLst>
              <a:gd name="adj" fmla="val 10000"/>
            </a:avLst>
          </a:prstGeom>
          <a:solidFill>
            <a:srgbClr val="EAF3FB"/>
          </a:solidFill>
          <a:ln>
            <a:no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100000" bIns="70000"/>
          <a:lstStyle/>
          <a:p>
            <a:pPr algn="ctr">
              <a:spcAft>
                <a:spcPts val="300"/>
              </a:spcAft>
              <a:buNone/>
            </a:pPr>
            <a:r>
              <a:rPr sz="2600" b="1" i="0">
                <a:solidFill>
                  <a:srgbClr val="C00000"/>
                </a:solidFill>
                <a:latin typeface="Bookman Old Style" panose="02050604050505020204"/>
                <a:ea typeface="Bookman Old Style" panose="02050604050505020204"/>
                <a:cs typeface="Bookman Old Style" panose="02050604050505020204"/>
              </a:rPr>
              <a:t>18</a:t>
            </a:r>
          </a:p>
          <a:p>
            <a:pPr algn="ctr">
              <a:spcAft>
                <a:spcPts val="300"/>
              </a:spcAft>
              <a:buNone/>
            </a:pPr>
            <a:r>
              <a:rPr sz="1200" b="0" i="0">
                <a:solidFill>
                  <a:srgbClr val="262626"/>
                </a:solidFill>
                <a:latin typeface="Bookman Old Style" panose="02050604050505020204"/>
                <a:ea typeface="Bookman Old Style" panose="02050604050505020204"/>
                <a:cs typeface="Bookman Old Style" panose="02050604050505020204"/>
              </a:rPr>
              <a:t>Squad lobbies</a:t>
            </a:r>
          </a:p>
        </p:txBody>
      </p:sp>
      <p:sp>
        <p:nvSpPr>
          <p:cNvPr id="6" name="Rounded Rectangle 5"/>
          <p:cNvSpPr/>
          <p:nvPr/>
        </p:nvSpPr>
        <p:spPr>
          <a:xfrm>
            <a:off x="8898000" y="1300000"/>
            <a:ext cx="2450000" cy="900000"/>
          </a:xfrm>
          <a:prstGeom prst="roundRect">
            <a:avLst>
              <a:gd name="adj" fmla="val 10000"/>
            </a:avLst>
          </a:prstGeom>
          <a:solidFill>
            <a:srgbClr val="EAF3FB"/>
          </a:solidFill>
          <a:ln>
            <a:no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100000" bIns="70000"/>
          <a:lstStyle/>
          <a:p>
            <a:pPr algn="ctr">
              <a:spcAft>
                <a:spcPts val="300"/>
              </a:spcAft>
              <a:buNone/>
            </a:pPr>
            <a:r>
              <a:rPr sz="2600" b="1" i="0">
                <a:solidFill>
                  <a:srgbClr val="C00000"/>
                </a:solidFill>
                <a:latin typeface="Bookman Old Style" panose="02050604050505020204"/>
                <a:ea typeface="Bookman Old Style" panose="02050604050505020204"/>
                <a:cs typeface="Bookman Old Style" panose="02050604050505020204"/>
              </a:rPr>
              <a:t>2</a:t>
            </a:r>
          </a:p>
          <a:p>
            <a:pPr algn="ctr">
              <a:spcAft>
                <a:spcPts val="300"/>
              </a:spcAft>
              <a:buNone/>
            </a:pPr>
            <a:r>
              <a:rPr sz="1200" b="0" i="0">
                <a:solidFill>
                  <a:srgbClr val="262626"/>
                </a:solidFill>
                <a:latin typeface="Bookman Old Style" panose="02050604050505020204"/>
                <a:ea typeface="Bookman Old Style" panose="02050604050505020204"/>
                <a:cs typeface="Bookman Old Style" panose="02050604050505020204"/>
              </a:rPr>
              <a:t>Databases: H2 / MySQL</a:t>
            </a:r>
          </a:p>
        </p:txBody>
      </p:sp>
      <p:sp>
        <p:nvSpPr>
          <p:cNvPr id="7" name="Rounded Rectangle 6"/>
          <p:cNvSpPr/>
          <p:nvPr/>
        </p:nvSpPr>
        <p:spPr>
          <a:xfrm>
            <a:off x="900000" y="2400000"/>
            <a:ext cx="5000000" cy="1650000"/>
          </a:xfrm>
          <a:prstGeom prst="roundRect">
            <a:avLst>
              <a:gd name="adj" fmla="val 8000"/>
            </a:avLst>
          </a:prstGeom>
          <a:solidFill>
            <a:srgbClr val="EAF3FB"/>
          </a:solidFill>
          <a:ln>
            <a:noFill/>
          </a:ln>
        </p:spPr>
        <p:style>
          <a:lnRef idx="1">
            <a:schemeClr val="accent1"/>
          </a:lnRef>
          <a:fillRef idx="3">
            <a:schemeClr val="accent1"/>
          </a:fillRef>
          <a:effectRef idx="2">
            <a:schemeClr val="accent1"/>
          </a:effectRef>
          <a:fontRef idx="minor">
            <a:schemeClr val="lt1"/>
          </a:fontRef>
        </p:style>
        <p:txBody>
          <a:bodyPr rtlCol="0" anchor="t" wrap="square" lIns="140000" rIns="140000" tIns="100000" bIns="70000"/>
          <a:lstStyle/>
          <a:p>
            <a:pPr algn="l">
              <a:spcAft>
                <a:spcPts val="300"/>
              </a:spcAft>
              <a:buNone/>
            </a:pPr>
            <a:r>
              <a:rPr sz="1500" b="1" i="0">
                <a:solidFill>
                  <a:srgbClr val="C00000"/>
                </a:solidFill>
                <a:latin typeface="Bookman Old Style" panose="02050604050505020204"/>
                <a:ea typeface="Bookman Old Style" panose="02050604050505020204"/>
                <a:cs typeface="Bookman Old Style" panose="02050604050505020204"/>
              </a:rPr>
              <a:t>Automated Test Suite</a:t>
            </a:r>
          </a:p>
          <a:p>
            <a:pPr algn="l" marL="190000" indent="-190000">
              <a:spcAft>
                <a:spcPts val="300"/>
              </a:spcAft>
              <a:buFont typeface="Arial"/>
              <a:buChar char="•"/>
            </a:pPr>
            <a:r>
              <a:rPr sz="1300" b="0" i="0">
                <a:solidFill>
                  <a:srgbClr val="262626"/>
                </a:solidFill>
                <a:latin typeface="Bookman Old Style" panose="02050604050505020204"/>
                <a:ea typeface="Bookman Old Style" panose="02050604050505020204"/>
                <a:cs typeface="Bookman Old Style" panose="02050604050505020204"/>
              </a:rPr>
              <a:t>JUnit 5 unit tests and @DataJpaTest repository tests</a:t>
            </a:r>
          </a:p>
          <a:p>
            <a:pPr algn="l" marL="190000" indent="-190000">
              <a:spcAft>
                <a:spcPts val="300"/>
              </a:spcAft>
              <a:buFont typeface="Arial"/>
              <a:buChar char="•"/>
            </a:pPr>
            <a:r>
              <a:rPr sz="1300" b="0" i="0">
                <a:solidFill>
                  <a:srgbClr val="262626"/>
                </a:solidFill>
                <a:latin typeface="Bookman Old Style" panose="02050604050505020204"/>
                <a:ea typeface="Bookman Old Style" panose="02050604050505020204"/>
                <a:cs typeface="Bookman Old Style" panose="02050604050505020204"/>
              </a:rPr>
              <a:t>MockMvc controller tests and SOAP endpoint tests</a:t>
            </a:r>
          </a:p>
          <a:p>
            <a:pPr algn="l">
              <a:spcAft>
                <a:spcPts val="300"/>
              </a:spcAft>
              <a:buNone/>
            </a:pPr>
            <a:r>
              <a:rPr sz="1200" b="1" i="0">
                <a:solidFill>
                  <a:srgbClr val="0070C0"/>
                </a:solidFill>
                <a:latin typeface="Bookman Old Style" panose="02050604050505020204"/>
                <a:ea typeface="Bookman Old Style" panose="02050604050505020204"/>
                <a:cs typeface="Bookman Old Style" panose="02050604050505020204"/>
              </a:rPr>
              <a:t>.\mvnw.cmd test</a:t>
            </a:r>
          </a:p>
        </p:txBody>
      </p:sp>
      <p:sp>
        <p:nvSpPr>
          <p:cNvPr id="8" name="Rounded Rectangle 7"/>
          <p:cNvSpPr/>
          <p:nvPr/>
        </p:nvSpPr>
        <p:spPr>
          <a:xfrm>
            <a:off x="900000" y="4150000"/>
            <a:ext cx="5000000" cy="1700000"/>
          </a:xfrm>
          <a:prstGeom prst="roundRect">
            <a:avLst>
              <a:gd name="adj" fmla="val 8000"/>
            </a:avLst>
          </a:prstGeom>
          <a:solidFill>
            <a:srgbClr val="EAF3FB"/>
          </a:solidFill>
          <a:ln>
            <a:noFill/>
          </a:ln>
        </p:spPr>
        <p:style>
          <a:lnRef idx="1">
            <a:schemeClr val="accent1"/>
          </a:lnRef>
          <a:fillRef idx="3">
            <a:schemeClr val="accent1"/>
          </a:fillRef>
          <a:effectRef idx="2">
            <a:schemeClr val="accent1"/>
          </a:effectRef>
          <a:fontRef idx="minor">
            <a:schemeClr val="lt1"/>
          </a:fontRef>
        </p:style>
        <p:txBody>
          <a:bodyPr rtlCol="0" anchor="t" wrap="square" lIns="140000" rIns="140000" tIns="100000" bIns="70000"/>
          <a:lstStyle/>
          <a:p>
            <a:pPr algn="l">
              <a:spcAft>
                <a:spcPts val="300"/>
              </a:spcAft>
              <a:buNone/>
            </a:pPr>
            <a:r>
              <a:rPr sz="1500" b="1" i="0">
                <a:solidFill>
                  <a:srgbClr val="C00000"/>
                </a:solidFill>
                <a:latin typeface="Bookman Old Style" panose="02050604050505020204"/>
                <a:ea typeface="Bookman Old Style" panose="02050604050505020204"/>
                <a:cs typeface="Bookman Old Style" panose="02050604050505020204"/>
              </a:rPr>
              <a:t>Seeding &amp; Database</a:t>
            </a:r>
          </a:p>
          <a:p>
            <a:pPr algn="l" marL="190000" indent="-190000">
              <a:spcAft>
                <a:spcPts val="300"/>
              </a:spcAft>
              <a:buFont typeface="Arial"/>
              <a:buChar char="•"/>
            </a:pPr>
            <a:r>
              <a:rPr sz="1300" b="0" i="0">
                <a:solidFill>
                  <a:srgbClr val="262626"/>
                </a:solidFill>
                <a:latin typeface="Bookman Old Style" panose="02050604050505020204"/>
                <a:ea typeface="Bookman Old Style" panose="02050604050505020204"/>
                <a:cs typeface="Bookman Old Style" panose="02050604050505020204"/>
              </a:rPr>
              <a:t>DataSeeder fills 20 players, 18 squads (Valorant, CS:GO, LoL, Apex), friendships and chat history</a:t>
            </a:r>
          </a:p>
          <a:p>
            <a:pPr algn="l" marL="190000" indent="-190000">
              <a:spcAft>
                <a:spcPts val="300"/>
              </a:spcAft>
              <a:buFont typeface="Arial"/>
              <a:buChar char="•"/>
            </a:pPr>
            <a:r>
              <a:rPr sz="1300" b="0" i="0">
                <a:solidFill>
                  <a:srgbClr val="262626"/>
                </a:solidFill>
                <a:latin typeface="Bookman Old Style" panose="02050604050505020204"/>
                <a:ea typeface="Bookman Old Style" panose="02050604050505020204"/>
                <a:cs typeface="Bookman Old Style" panose="02050604050505020204"/>
              </a:rPr>
              <a:t>Zero-setup embedded H2 by default; switch with .\start.ps1 mysql</a:t>
            </a:r>
          </a:p>
        </p:txBody>
      </p:sp>
      <p:sp>
        <p:nvSpPr>
          <p:cNvPr id="9" name="SCREENSHOT PLACEHOLDER - delete after inserting image"/>
          <p:cNvSpPr/>
          <p:nvPr/>
        </p:nvSpPr>
        <p:spPr>
          <a:xfrm>
            <a:off x="6250000" y="2400000"/>
            <a:ext cx="5100000" cy="1650000"/>
          </a:xfrm>
          <a:prstGeom prst="rect">
            <a:avLst/>
          </a:prstGeom>
          <a:noFill/>
          <a:ln w="12700">
            <a:solidFill>
              <a:srgbClr val="A6A6A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0" i="0">
                <a:solidFill>
                  <a:srgbClr val="A6A6A6"/>
                </a:solidFill>
                <a:latin typeface="Bookman Old Style" panose="02050604050505020204"/>
                <a:ea typeface="Bookman Old Style" panose="02050604050505020204"/>
                <a:cs typeface="Bookman Old Style" panose="02050604050505020204"/>
              </a:rPr>
              <a:t>[ Screenshot here ]</a:t>
            </a:r>
          </a:p>
        </p:txBody>
      </p:sp>
      <p:sp>
        <p:nvSpPr>
          <p:cNvPr id="10" name="TextBox 9"/>
          <p:cNvSpPr txBox="1"/>
          <p:nvPr/>
        </p:nvSpPr>
        <p:spPr>
          <a:xfrm>
            <a:off x="6150000" y="4080000"/>
            <a:ext cx="5300000" cy="274320"/>
          </a:xfrm>
          <a:prstGeom prst="rect">
            <a:avLst/>
          </a:prstGeom>
          <a:noFill/>
        </p:spPr>
        <p:txBody>
          <a:bodyPr wrap="square" anchor="t">
            <a:spAutoFit/>
          </a:bodyPr>
          <a:lstStyle/>
          <a:p>
            <a:pPr algn="l">
              <a:spcAft>
                <a:spcPts val="300"/>
              </a:spcAft>
              <a:buNone/>
            </a:pPr>
            <a:r>
              <a:rPr sz="1200" b="0" i="0">
                <a:solidFill>
                  <a:srgbClr val="595959"/>
                </a:solidFill>
                <a:latin typeface="Bookman Old Style" panose="02050604050505020204"/>
                <a:ea typeface="Bookman Old Style" panose="02050604050505020204"/>
                <a:cs typeface="Bookman Old Style" panose="02050604050505020204"/>
              </a:rPr>
              <a:t>Maven test result (53 tests)</a:t>
            </a:r>
          </a:p>
        </p:txBody>
      </p:sp>
      <p:sp>
        <p:nvSpPr>
          <p:cNvPr id="11" name="SCREENSHOT PLACEHOLDER - delete after inserting image"/>
          <p:cNvSpPr/>
          <p:nvPr/>
        </p:nvSpPr>
        <p:spPr>
          <a:xfrm>
            <a:off x="6250000" y="4350000"/>
            <a:ext cx="5100000" cy="1400000"/>
          </a:xfrm>
          <a:prstGeom prst="rect">
            <a:avLst/>
          </a:prstGeom>
          <a:noFill/>
          <a:ln w="12700">
            <a:solidFill>
              <a:srgbClr val="A6A6A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0" i="0">
                <a:solidFill>
                  <a:srgbClr val="A6A6A6"/>
                </a:solidFill>
                <a:latin typeface="Bookman Old Style" panose="02050604050505020204"/>
                <a:ea typeface="Bookman Old Style" panose="02050604050505020204"/>
                <a:cs typeface="Bookman Old Style" panose="02050604050505020204"/>
              </a:rPr>
              <a:t>[ Screenshot here ]</a:t>
            </a:r>
          </a:p>
        </p:txBody>
      </p:sp>
      <p:sp>
        <p:nvSpPr>
          <p:cNvPr id="12" name="TextBox 11"/>
          <p:cNvSpPr txBox="1"/>
          <p:nvPr/>
        </p:nvSpPr>
        <p:spPr>
          <a:xfrm>
            <a:off x="6150000" y="5780000"/>
            <a:ext cx="5300000" cy="274320"/>
          </a:xfrm>
          <a:prstGeom prst="rect">
            <a:avLst/>
          </a:prstGeom>
          <a:noFill/>
        </p:spPr>
        <p:txBody>
          <a:bodyPr wrap="square" anchor="t">
            <a:spAutoFit/>
          </a:bodyPr>
          <a:lstStyle/>
          <a:p>
            <a:pPr algn="l">
              <a:spcAft>
                <a:spcPts val="300"/>
              </a:spcAft>
              <a:buNone/>
            </a:pPr>
            <a:r>
              <a:rPr sz="1200" b="0" i="0">
                <a:solidFill>
                  <a:srgbClr val="595959"/>
                </a:solidFill>
                <a:latin typeface="Bookman Old Style" panose="02050604050505020204"/>
                <a:ea typeface="Bookman Old Style" panose="02050604050505020204"/>
                <a:cs typeface="Bookman Old Style" panose="02050604050505020204"/>
              </a:rPr>
              <a:t>Seeded data in H2 console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00000" y="280000"/>
            <a:ext cx="9200000" cy="518160"/>
          </a:xfrm>
          <a:prstGeom prst="rect">
            <a:avLst/>
          </a:prstGeom>
          <a:noFill/>
        </p:spPr>
        <p:txBody>
          <a:bodyPr wrap="square" anchor="ctr">
            <a:spAutoFit/>
          </a:bodyPr>
          <a:lstStyle/>
          <a:p>
            <a:pPr algn="ctr"/>
            <a:r>
              <a:rPr sz="2800" b="1" i="0">
                <a:solidFill>
                  <a:srgbClr val="0070C0"/>
                </a:solidFill>
                <a:latin typeface="Bookman Old Style" panose="02050604050505020204"/>
                <a:ea typeface="Bookman Old Style" panose="02050604050505020204"/>
                <a:cs typeface="Bookman Old Style" panose="02050604050505020204"/>
              </a:rPr>
              <a:t>Conclusion &amp; Q&amp;A</a:t>
            </a:r>
          </a:p>
        </p:txBody>
      </p:sp>
      <p:sp>
        <p:nvSpPr>
          <p:cNvPr id="3" name="Rounded Rectangle 2"/>
          <p:cNvSpPr/>
          <p:nvPr/>
        </p:nvSpPr>
        <p:spPr>
          <a:xfrm>
            <a:off x="900000" y="1350000"/>
            <a:ext cx="5100000" cy="3300000"/>
          </a:xfrm>
          <a:prstGeom prst="roundRect">
            <a:avLst>
              <a:gd name="adj" fmla="val 6000"/>
            </a:avLst>
          </a:prstGeom>
          <a:solidFill>
            <a:srgbClr val="EAF3FB"/>
          </a:solidFill>
          <a:ln>
            <a:noFill/>
          </a:ln>
        </p:spPr>
        <p:style>
          <a:lnRef idx="1">
            <a:schemeClr val="accent1"/>
          </a:lnRef>
          <a:fillRef idx="3">
            <a:schemeClr val="accent1"/>
          </a:fillRef>
          <a:effectRef idx="2">
            <a:schemeClr val="accent1"/>
          </a:effectRef>
          <a:fontRef idx="minor">
            <a:schemeClr val="lt1"/>
          </a:fontRef>
        </p:style>
        <p:txBody>
          <a:bodyPr rtlCol="0" anchor="t" wrap="square" lIns="140000" rIns="140000" tIns="100000" bIns="70000"/>
          <a:lstStyle/>
          <a:p>
            <a:pPr algn="l">
              <a:spcAft>
                <a:spcPts val="300"/>
              </a:spcAft>
              <a:buNone/>
            </a:pPr>
            <a:r>
              <a:rPr sz="1900" b="1" i="0">
                <a:solidFill>
                  <a:srgbClr val="C00000"/>
                </a:solidFill>
                <a:latin typeface="Bookman Old Style" panose="02050604050505020204"/>
                <a:ea typeface="Bookman Old Style" panose="02050604050505020204"/>
                <a:cs typeface="Bookman Old Style" panose="02050604050505020204"/>
              </a:rPr>
              <a:t>Summary of Deliverables</a:t>
            </a:r>
          </a:p>
          <a:p>
            <a:pPr algn="l" marL="190000" indent="-190000">
              <a:spcAft>
                <a:spcPts val="300"/>
              </a:spcAft>
              <a:buFont typeface="Arial"/>
              <a:buChar char="•"/>
            </a:pPr>
            <a:r>
              <a:rPr sz="1700" b="0" i="0">
                <a:solidFill>
                  <a:srgbClr val="262626"/>
                </a:solidFill>
                <a:latin typeface="Bookman Old Style" panose="02050604050505020204"/>
                <a:ea typeface="Bookman Old Style" panose="02050604050505020204"/>
                <a:cs typeface="Bookman Old Style" panose="02050604050505020204"/>
              </a:rPr>
              <a:t>Compatibility-first squad matching platform on Spring Boot 3.5</a:t>
            </a:r>
          </a:p>
          <a:p>
            <a:pPr algn="l" marL="190000" indent="-190000">
              <a:spcAft>
                <a:spcPts val="300"/>
              </a:spcAft>
              <a:buFont typeface="Arial"/>
              <a:buChar char="•"/>
            </a:pPr>
            <a:r>
              <a:rPr sz="1700" b="0" i="0">
                <a:solidFill>
                  <a:srgbClr val="262626"/>
                </a:solidFill>
                <a:latin typeface="Bookman Old Style" panose="02050604050505020204"/>
                <a:ea typeface="Bookman Old Style" panose="02050604050505020204"/>
                <a:cs typeface="Bookman Old Style" panose="02050604050505020204"/>
              </a:rPr>
              <a:t>REST and SOAP APIs with stateless token security</a:t>
            </a:r>
          </a:p>
          <a:p>
            <a:pPr algn="l" marL="190000" indent="-190000">
              <a:spcAft>
                <a:spcPts val="300"/>
              </a:spcAft>
              <a:buFont typeface="Arial"/>
              <a:buChar char="•"/>
            </a:pPr>
            <a:r>
              <a:rPr sz="1700" b="0" i="0">
                <a:solidFill>
                  <a:srgbClr val="262626"/>
                </a:solidFill>
                <a:latin typeface="Bookman Old Style" panose="02050604050505020204"/>
                <a:ea typeface="Bookman Old Style" panose="02050604050505020204"/>
                <a:cs typeface="Bookman Old Style" panose="02050604050505020204"/>
              </a:rPr>
              <a:t>Weighted recommendation engine and real-time STOMP chat</a:t>
            </a:r>
          </a:p>
          <a:p>
            <a:pPr algn="l" marL="190000" indent="-190000">
              <a:spcAft>
                <a:spcPts val="300"/>
              </a:spcAft>
              <a:buFont typeface="Arial"/>
              <a:buChar char="•"/>
            </a:pPr>
            <a:r>
              <a:rPr sz="1700" b="0" i="0">
                <a:solidFill>
                  <a:srgbClr val="262626"/>
                </a:solidFill>
                <a:latin typeface="Bookman Old Style" panose="02050604050505020204"/>
                <a:ea typeface="Bookman Old Style" panose="02050604050505020204"/>
                <a:cs typeface="Bookman Old Style" panose="02050604050505020204"/>
              </a:rPr>
              <a:t>AOP logging, auditing and 53 automated tests</a:t>
            </a:r>
          </a:p>
        </p:txBody>
      </p:sp>
      <p:sp>
        <p:nvSpPr>
          <p:cNvPr id="4" name="Rounded Rectangle 3"/>
          <p:cNvSpPr/>
          <p:nvPr/>
        </p:nvSpPr>
        <p:spPr>
          <a:xfrm>
            <a:off x="6250000" y="1350000"/>
            <a:ext cx="5100000" cy="3300000"/>
          </a:xfrm>
          <a:prstGeom prst="roundRect">
            <a:avLst>
              <a:gd name="adj" fmla="val 6000"/>
            </a:avLst>
          </a:prstGeom>
          <a:solidFill>
            <a:srgbClr val="EAF3FB"/>
          </a:solidFill>
          <a:ln>
            <a:noFill/>
          </a:ln>
        </p:spPr>
        <p:style>
          <a:lnRef idx="1">
            <a:schemeClr val="accent1"/>
          </a:lnRef>
          <a:fillRef idx="3">
            <a:schemeClr val="accent1"/>
          </a:fillRef>
          <a:effectRef idx="2">
            <a:schemeClr val="accent1"/>
          </a:effectRef>
          <a:fontRef idx="minor">
            <a:schemeClr val="lt1"/>
          </a:fontRef>
        </p:style>
        <p:txBody>
          <a:bodyPr rtlCol="0" anchor="t" wrap="square" lIns="140000" rIns="140000" tIns="100000" bIns="70000"/>
          <a:lstStyle/>
          <a:p>
            <a:pPr algn="l">
              <a:spcAft>
                <a:spcPts val="300"/>
              </a:spcAft>
              <a:buNone/>
            </a:pPr>
            <a:r>
              <a:rPr sz="1900" b="1" i="0">
                <a:solidFill>
                  <a:srgbClr val="C00000"/>
                </a:solidFill>
                <a:latin typeface="Bookman Old Style" panose="02050604050505020204"/>
                <a:ea typeface="Bookman Old Style" panose="02050604050505020204"/>
                <a:cs typeface="Bookman Old Style" panose="02050604050505020204"/>
              </a:rPr>
              <a:t>Links &amp; Demo</a:t>
            </a:r>
          </a:p>
          <a:p>
            <a:pPr algn="l" marL="190000" indent="-190000">
              <a:spcAft>
                <a:spcPts val="300"/>
              </a:spcAft>
              <a:buFont typeface="Arial"/>
              <a:buChar char="•"/>
            </a:pPr>
            <a:r>
              <a:rPr sz="1700" b="1" i="0">
                <a:solidFill>
                  <a:srgbClr val="262626"/>
                </a:solidFill>
                <a:latin typeface="Bookman Old Style" panose="02050604050505020204"/>
                <a:ea typeface="Bookman Old Style" panose="02050604050505020204"/>
                <a:cs typeface="Bookman Old Style" panose="02050604050505020204"/>
              </a:rPr>
              <a:t>GitHub:</a:t>
            </a:r>
            <a:r>
              <a:rPr sz="1700" b="0" i="0">
                <a:solidFill>
                  <a:srgbClr val="262626"/>
                </a:solidFill>
                <a:latin typeface="Bookman Old Style" panose="02050604050505020204"/>
                <a:ea typeface="Bookman Old Style" panose="02050604050505020204"/>
                <a:cs typeface="Bookman Old Style" panose="02050604050505020204"/>
              </a:rPr>
              <a:t> github.com/Sashankdeva/API_Proj</a:t>
            </a:r>
          </a:p>
          <a:p>
            <a:pPr algn="l" marL="190000" indent="-190000">
              <a:spcAft>
                <a:spcPts val="300"/>
              </a:spcAft>
              <a:buFont typeface="Arial"/>
              <a:buChar char="•"/>
            </a:pPr>
            <a:r>
              <a:rPr sz="1700" b="1" i="0">
                <a:solidFill>
                  <a:srgbClr val="262626"/>
                </a:solidFill>
                <a:latin typeface="Bookman Old Style" panose="02050604050505020204"/>
                <a:ea typeface="Bookman Old Style" panose="02050604050505020204"/>
                <a:cs typeface="Bookman Old Style" panose="02050604050505020204"/>
              </a:rPr>
              <a:t>Live Demo:</a:t>
            </a:r>
            <a:r>
              <a:rPr sz="1700" b="0" i="0">
                <a:solidFill>
                  <a:srgbClr val="262626"/>
                </a:solidFill>
                <a:latin typeface="Bookman Old Style" panose="02050604050505020204"/>
                <a:ea typeface="Bookman Old Style" panose="02050604050505020204"/>
                <a:cs typeface="Bookman Old Style" panose="02050604050505020204"/>
              </a:rPr>
              <a:t> http://localhost:5500</a:t>
            </a:r>
          </a:p>
          <a:p>
            <a:pPr algn="l" marL="190000" indent="-190000">
              <a:spcAft>
                <a:spcPts val="300"/>
              </a:spcAft>
              <a:buFont typeface="Arial"/>
              <a:buChar char="•"/>
            </a:pPr>
            <a:r>
              <a:rPr sz="1700" b="1" i="0">
                <a:solidFill>
                  <a:srgbClr val="262626"/>
                </a:solidFill>
                <a:latin typeface="Bookman Old Style" panose="02050604050505020204"/>
                <a:ea typeface="Bookman Old Style" panose="02050604050505020204"/>
                <a:cs typeface="Bookman Old Style" panose="02050604050505020204"/>
              </a:rPr>
              <a:t>SOAP WSDL:</a:t>
            </a:r>
            <a:r>
              <a:rPr sz="1700" b="0" i="0">
                <a:solidFill>
                  <a:srgbClr val="262626"/>
                </a:solidFill>
                <a:latin typeface="Bookman Old Style" panose="02050604050505020204"/>
                <a:ea typeface="Bookman Old Style" panose="02050604050505020204"/>
                <a:cs typeface="Bookman Old Style" panose="02050604050505020204"/>
              </a:rPr>
              <a:t> http://localhost:5500/soap/players.wsdl</a:t>
            </a:r>
          </a:p>
        </p:txBody>
      </p:sp>
      <p:sp>
        <p:nvSpPr>
          <p:cNvPr id="5" name="TextBox 4"/>
          <p:cNvSpPr txBox="1"/>
          <p:nvPr/>
        </p:nvSpPr>
        <p:spPr>
          <a:xfrm>
            <a:off x="900000" y="5000000"/>
            <a:ext cx="10450000" cy="700000"/>
          </a:xfrm>
          <a:prstGeom prst="rect">
            <a:avLst/>
          </a:prstGeom>
          <a:noFill/>
        </p:spPr>
        <p:txBody>
          <a:bodyPr wrap="none" anchor="ctr">
            <a:spAutoFit/>
          </a:bodyPr>
          <a:lstStyle/>
          <a:p>
            <a:pPr algn="ctr"/>
            <a:r>
              <a:rPr sz="2800" b="1" i="0">
                <a:solidFill>
                  <a:srgbClr val="0070C0"/>
                </a:solidFill>
                <a:latin typeface="Bookman Old Style" panose="02050604050505020204"/>
                <a:ea typeface="Bookman Old Style" panose="02050604050505020204"/>
                <a:cs typeface="Bookman Old Style" panose="02050604050505020204"/>
              </a:rPr>
              <a:t>Thank You! Questions?</a:t>
            </a:r>
          </a:p>
        </p:txBody>
      </p:sp>
    </p:spTree>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majorFont>
      <a:minorFont>
        <a:latin typeface="Calibri"/>
        <a:ea typeface=""/>
        <a:cs typeface=""/>
      </a:minorFont>
    </a:fontScheme>
    <a:fmtScheme name="Office Theme">
      <a:fillStyleLst>
        <a:solidFill>
          <a:schemeClr val="phClr"/>
        </a:solidFill>
        <a:gradFill rotWithShape="1">
          <a:gsLst>
            <a:gs pos="0">
              <a:schemeClr val="phClr">
                <a:tint val="67000"/>
                <a:lumMod val="110000"/>
                <a:satMod val="104999"/>
              </a:schemeClr>
            </a:gs>
            <a:gs pos="50000">
              <a:schemeClr val="phClr">
                <a:tint val="73000"/>
                <a:lumMod val="104999"/>
                <a:satMod val="103000"/>
              </a:schemeClr>
            </a:gs>
            <a:gs pos="100000">
              <a:schemeClr val="phClr">
                <a:tint val="81000"/>
                <a:lumMod val="104999"/>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majorFont>
      <a:minorFont>
        <a:latin typeface="Calibri"/>
        <a:ea typeface=""/>
        <a:cs typeface=""/>
      </a:minorFont>
    </a:fontScheme>
    <a:fmtScheme name="Office Theme">
      <a:fillStyleLst>
        <a:solidFill>
          <a:schemeClr val="phClr"/>
        </a:solidFill>
        <a:gradFill rotWithShape="1">
          <a:gsLst>
            <a:gs pos="0">
              <a:schemeClr val="phClr">
                <a:tint val="67000"/>
                <a:lumMod val="110000"/>
                <a:satMod val="104999"/>
              </a:schemeClr>
            </a:gs>
            <a:gs pos="50000">
              <a:schemeClr val="phClr">
                <a:tint val="73000"/>
                <a:lumMod val="104999"/>
                <a:satMod val="103000"/>
              </a:schemeClr>
            </a:gs>
            <a:gs pos="100000">
              <a:schemeClr val="phClr">
                <a:tint val="81000"/>
                <a:lumMod val="104999"/>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6561</Words>
  <Application>WPS Presentation</Application>
  <PresentationFormat>Converted Presentation</PresentationFormat>
  <Paragraphs>288</Paragraphs>
  <Slides>15</Slides>
  <Notes>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15</vt:i4>
      </vt:variant>
    </vt:vector>
  </HeadingPairs>
  <TitlesOfParts>
    <vt:vector size="28" baseType="lpstr">
      <vt:lpstr>Arial</vt:lpstr>
      <vt:lpstr>SimSun</vt:lpstr>
      <vt:lpstr>Wingdings</vt:lpstr>
      <vt:lpstr>Bookman Old Style</vt:lpstr>
      <vt:lpstr>Calibri</vt:lpstr>
      <vt:lpstr>Microsoft YaHei</vt:lpstr>
      <vt:lpstr>Arial Unicode MS</vt:lpstr>
      <vt:lpstr>Calibri Light</vt:lpstr>
      <vt:lpstr>Bookman Old Style</vt:lpstr>
      <vt:lpstr>ADLaM Display</vt:lpstr>
      <vt:lpstr>Wide Latin</vt:lpstr>
      <vt:lpstr>Arial</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Johnika</cp:lastModifiedBy>
  <cp:revision>1</cp:revision>
  <dcterms:created xsi:type="dcterms:W3CDTF">2026-10-04T18:21:26Z</dcterms:created>
  <dcterms:modified xsi:type="dcterms:W3CDTF">2026-10-04T18:21:28Z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1033-12.1.0.28485</vt:lpwstr>
  </property>
  <property fmtid="{D5CDD505-2E9C-101B-9397-08002B2CF9AE}" pid="3" name="ICV">
    <vt:lpwstr>D434147731BC424091AF66ED856418A1_12</vt:lpwstr>
  </property>
</Properties>
</file>